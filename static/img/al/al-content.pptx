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2" r:id="rId1"/>
  </p:sldMasterIdLst>
  <p:notesMasterIdLst>
    <p:notesMasterId r:id="rId4"/>
  </p:notesMasterIdLst>
  <p:sldIdLst>
    <p:sldId id="454" r:id="rId2"/>
    <p:sldId id="452" r:id="rId3"/>
  </p:sldIdLst>
  <p:sldSz cx="12188825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1152">
          <p15:clr>
            <a:srgbClr val="A4A3A4"/>
          </p15:clr>
        </p15:guide>
        <p15:guide id="4" orient="horz" pos="3888">
          <p15:clr>
            <a:srgbClr val="A4A3A4"/>
          </p15:clr>
        </p15:guide>
        <p15:guide id="5" orient="horz" pos="3072">
          <p15:clr>
            <a:srgbClr val="A4A3A4"/>
          </p15:clr>
        </p15:guide>
        <p15:guide id="6" orient="horz" pos="432">
          <p15:clr>
            <a:srgbClr val="A4A3A4"/>
          </p15:clr>
        </p15:guide>
        <p15:guide id="7" orient="horz" pos="3648">
          <p15:clr>
            <a:srgbClr val="A4A3A4"/>
          </p15:clr>
        </p15:guide>
        <p15:guide id="8" pos="3839">
          <p15:clr>
            <a:srgbClr val="A4A3A4"/>
          </p15:clr>
        </p15:guide>
        <p15:guide id="9" pos="766">
          <p15:clr>
            <a:srgbClr val="A4A3A4"/>
          </p15:clr>
        </p15:guide>
        <p15:guide id="10" pos="6912">
          <p15:clr>
            <a:srgbClr val="A4A3A4"/>
          </p15:clr>
        </p15:guide>
        <p15:guide id="11" pos="5711">
          <p15:clr>
            <a:srgbClr val="A4A3A4"/>
          </p15:clr>
        </p15:guide>
        <p15:guide id="12" pos="7247">
          <p15:clr>
            <a:srgbClr val="A4A3A4"/>
          </p15:clr>
        </p15:guide>
        <p15:guide id="13" pos="3695">
          <p15:clr>
            <a:srgbClr val="A4A3A4"/>
          </p15:clr>
        </p15:guide>
        <p15:guide id="14" pos="431">
          <p15:clr>
            <a:srgbClr val="A4A3A4"/>
          </p15:clr>
        </p15:guide>
        <p15:guide id="15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7BAFF"/>
    <a:srgbClr val="FCE4D6"/>
    <a:srgbClr val="ED7D31"/>
    <a:srgbClr val="FF6600"/>
    <a:srgbClr val="F4B084"/>
    <a:srgbClr val="FE86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3D255CF-6628-4813-907E-2EF8DBF8922C}">
  <a:tblStyle styleId="{53D255CF-6628-4813-907E-2EF8DBF8922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01" autoAdjust="0"/>
    <p:restoredTop sz="94971" autoAdjust="0"/>
  </p:normalViewPr>
  <p:slideViewPr>
    <p:cSldViewPr snapToGrid="0">
      <p:cViewPr varScale="1">
        <p:scale>
          <a:sx n="109" d="100"/>
          <a:sy n="109" d="100"/>
        </p:scale>
        <p:origin x="396" y="114"/>
      </p:cViewPr>
      <p:guideLst>
        <p:guide orient="horz" pos="2160"/>
        <p:guide orient="horz" pos="1008"/>
        <p:guide orient="horz" pos="1152"/>
        <p:guide orient="horz" pos="3888"/>
        <p:guide orient="horz" pos="3072"/>
        <p:guide orient="horz" pos="432"/>
        <p:guide orient="horz" pos="3648"/>
        <p:guide pos="3839"/>
        <p:guide pos="766"/>
        <p:guide pos="6912"/>
        <p:guide pos="5711"/>
        <p:guide pos="7247"/>
        <p:guide pos="3695"/>
        <p:guide pos="431"/>
        <p:guide pos="287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3994178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413576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>
            <a:spLocks noGrp="1"/>
          </p:cNvSpPr>
          <p:nvPr>
            <p:ph type="title"/>
          </p:nvPr>
        </p:nvSpPr>
        <p:spPr>
          <a:xfrm>
            <a:off x="0" y="193331"/>
            <a:ext cx="12188825" cy="564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body" idx="1"/>
          </p:nvPr>
        </p:nvSpPr>
        <p:spPr>
          <a:xfrm>
            <a:off x="0" y="1169988"/>
            <a:ext cx="12188825" cy="256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810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–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ftr" idx="11"/>
          </p:nvPr>
        </p:nvSpPr>
        <p:spPr>
          <a:xfrm>
            <a:off x="0" y="6381750"/>
            <a:ext cx="4809931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5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 txBox="1">
            <a:spLocks noGrp="1"/>
          </p:cNvSpPr>
          <p:nvPr>
            <p:ph type="title"/>
          </p:nvPr>
        </p:nvSpPr>
        <p:spPr>
          <a:xfrm rot="5400000">
            <a:off x="9156304" y="910890"/>
            <a:ext cx="3017838" cy="1589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body" idx="1"/>
          </p:nvPr>
        </p:nvSpPr>
        <p:spPr>
          <a:xfrm rot="5400000">
            <a:off x="4986444" y="-737341"/>
            <a:ext cx="3017838" cy="4886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810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–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ftr" idx="11"/>
          </p:nvPr>
        </p:nvSpPr>
        <p:spPr>
          <a:xfrm>
            <a:off x="0" y="6381750"/>
            <a:ext cx="4809931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5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body" idx="1"/>
          </p:nvPr>
        </p:nvSpPr>
        <p:spPr>
          <a:xfrm>
            <a:off x="0" y="1169988"/>
            <a:ext cx="12188825" cy="2193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0" y="193331"/>
            <a:ext cx="12188825" cy="564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Shape 16"/>
          <p:cNvSpPr/>
          <p:nvPr/>
        </p:nvSpPr>
        <p:spPr>
          <a:xfrm>
            <a:off x="4875530" y="-88900"/>
            <a:ext cx="2363702" cy="295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050" tIns="82275" rIns="69050" bIns="345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4"/>
              <a:buFont typeface="Arial"/>
              <a:buNone/>
            </a:pPr>
            <a:r>
              <a:rPr lang="en-US" sz="674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BOEING PROPRIETARY</a:t>
            </a: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79">
            <a:extLst>
              <a:ext uri="{FF2B5EF4-FFF2-40B4-BE49-F238E27FC236}">
                <a16:creationId xmlns:a16="http://schemas.microsoft.com/office/drawing/2014/main" id="{40C522DF-525A-4AF1-BAFE-FB6CED40962A}"/>
              </a:ext>
            </a:extLst>
          </p:cNvPr>
          <p:cNvSpPr/>
          <p:nvPr/>
        </p:nvSpPr>
        <p:spPr>
          <a:xfrm>
            <a:off x="2145146" y="1628949"/>
            <a:ext cx="1726165" cy="28731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Wake up Tone</a:t>
            </a:r>
          </a:p>
          <a:p>
            <a:pPr algn="ctr"/>
            <a:r>
              <a:rPr lang="en-US" sz="1050" dirty="0">
                <a:solidFill>
                  <a:schemeClr val="tx1"/>
                </a:solidFill>
              </a:rPr>
              <a:t>1s, 2.5KHz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61F963C-C670-42F4-84CB-9F105906D395}"/>
              </a:ext>
            </a:extLst>
          </p:cNvPr>
          <p:cNvSpPr/>
          <p:nvPr/>
        </p:nvSpPr>
        <p:spPr>
          <a:xfrm>
            <a:off x="2145146" y="2158602"/>
            <a:ext cx="1726165" cy="28731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&gt;2200 comparator threshold crossings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6EF91B94-33A7-4A37-88C4-926A9F6D36D5}"/>
              </a:ext>
            </a:extLst>
          </p:cNvPr>
          <p:cNvSpPr/>
          <p:nvPr/>
        </p:nvSpPr>
        <p:spPr>
          <a:xfrm>
            <a:off x="2145146" y="2688255"/>
            <a:ext cx="1726165" cy="28731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Timing Logic Start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E0DDDFA-1783-4100-B8FA-2A32E48667B9}"/>
              </a:ext>
            </a:extLst>
          </p:cNvPr>
          <p:cNvSpPr/>
          <p:nvPr/>
        </p:nvSpPr>
        <p:spPr>
          <a:xfrm>
            <a:off x="116401" y="3073574"/>
            <a:ext cx="1457739" cy="58509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Power Saving Mode</a:t>
            </a:r>
          </a:p>
          <a:p>
            <a:pPr algn="ctr"/>
            <a:r>
              <a:rPr lang="en-US" sz="1050" dirty="0">
                <a:solidFill>
                  <a:schemeClr val="tx1"/>
                </a:solidFill>
              </a:rPr>
              <a:t>(BLE off)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E80A927-E2A2-432A-A808-7026818704CA}"/>
              </a:ext>
            </a:extLst>
          </p:cNvPr>
          <p:cNvSpPr/>
          <p:nvPr/>
        </p:nvSpPr>
        <p:spPr>
          <a:xfrm>
            <a:off x="2145146" y="6187574"/>
            <a:ext cx="1726165" cy="35880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TDoA(1), TDoA(2), TDoA(3) captured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8044D71-01C0-4721-B365-C3EA5076056C}"/>
              </a:ext>
            </a:extLst>
          </p:cNvPr>
          <p:cNvCxnSpPr>
            <a:cxnSpLocks/>
            <a:stCxn id="80" idx="2"/>
            <a:endCxn id="54" idx="0"/>
          </p:cNvCxnSpPr>
          <p:nvPr/>
        </p:nvCxnSpPr>
        <p:spPr>
          <a:xfrm>
            <a:off x="3008229" y="1916259"/>
            <a:ext cx="0" cy="242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FA496A7-D912-4E5C-886D-B0256AE9BCF6}"/>
              </a:ext>
            </a:extLst>
          </p:cNvPr>
          <p:cNvCxnSpPr>
            <a:cxnSpLocks/>
            <a:stCxn id="54" idx="2"/>
            <a:endCxn id="64" idx="0"/>
          </p:cNvCxnSpPr>
          <p:nvPr/>
        </p:nvCxnSpPr>
        <p:spPr>
          <a:xfrm>
            <a:off x="3008229" y="2445912"/>
            <a:ext cx="0" cy="242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0E9215F-B83B-4DB3-A225-671BC49BFADA}"/>
              </a:ext>
            </a:extLst>
          </p:cNvPr>
          <p:cNvCxnSpPr>
            <a:cxnSpLocks/>
            <a:stCxn id="64" idx="2"/>
            <a:endCxn id="92" idx="0"/>
          </p:cNvCxnSpPr>
          <p:nvPr/>
        </p:nvCxnSpPr>
        <p:spPr>
          <a:xfrm>
            <a:off x="3008229" y="2975565"/>
            <a:ext cx="0" cy="242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id="{657B31CE-CA1F-4A06-9D1A-D14EC03521FE}"/>
              </a:ext>
            </a:extLst>
          </p:cNvPr>
          <p:cNvCxnSpPr>
            <a:cxnSpLocks/>
            <a:stCxn id="77" idx="1"/>
            <a:endCxn id="65" idx="2"/>
          </p:cNvCxnSpPr>
          <p:nvPr/>
        </p:nvCxnSpPr>
        <p:spPr>
          <a:xfrm rot="10800000">
            <a:off x="845272" y="3658673"/>
            <a:ext cx="1299875" cy="27083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AC82C579-745A-41DD-BE9D-2FF358264133}"/>
              </a:ext>
            </a:extLst>
          </p:cNvPr>
          <p:cNvCxnSpPr>
            <a:cxnSpLocks/>
            <a:stCxn id="65" idx="0"/>
            <a:endCxn id="80" idx="1"/>
          </p:cNvCxnSpPr>
          <p:nvPr/>
        </p:nvCxnSpPr>
        <p:spPr>
          <a:xfrm rot="5400000" flipH="1" flipV="1">
            <a:off x="844723" y="1773152"/>
            <a:ext cx="1300970" cy="129987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or: Elbow 94">
            <a:extLst>
              <a:ext uri="{FF2B5EF4-FFF2-40B4-BE49-F238E27FC236}">
                <a16:creationId xmlns:a16="http://schemas.microsoft.com/office/drawing/2014/main" id="{52D0D68C-D535-4F9D-8BCD-B18AC6EC04F5}"/>
              </a:ext>
            </a:extLst>
          </p:cNvPr>
          <p:cNvCxnSpPr>
            <a:cxnSpLocks/>
            <a:stCxn id="54" idx="1"/>
            <a:endCxn id="65" idx="3"/>
          </p:cNvCxnSpPr>
          <p:nvPr/>
        </p:nvCxnSpPr>
        <p:spPr>
          <a:xfrm rot="10800000" flipV="1">
            <a:off x="1574140" y="2302257"/>
            <a:ext cx="571006" cy="106386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BACBFAA9-9340-4004-91A7-A52CA6E4F108}"/>
              </a:ext>
            </a:extLst>
          </p:cNvPr>
          <p:cNvSpPr txBox="1"/>
          <p:nvPr/>
        </p:nvSpPr>
        <p:spPr>
          <a:xfrm>
            <a:off x="1587889" y="2711749"/>
            <a:ext cx="3481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No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99467C48-CC98-444D-8D22-868F5A7348A2}"/>
              </a:ext>
            </a:extLst>
          </p:cNvPr>
          <p:cNvSpPr/>
          <p:nvPr/>
        </p:nvSpPr>
        <p:spPr>
          <a:xfrm>
            <a:off x="926679" y="4196666"/>
            <a:ext cx="919089" cy="5206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Timer Value Exceeds 3s</a:t>
            </a:r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322E2D45-5364-4CA1-99ED-CC4DB06DEAF2}"/>
              </a:ext>
            </a:extLst>
          </p:cNvPr>
          <p:cNvCxnSpPr>
            <a:cxnSpLocks/>
            <a:stCxn id="98" idx="0"/>
          </p:cNvCxnSpPr>
          <p:nvPr/>
        </p:nvCxnSpPr>
        <p:spPr>
          <a:xfrm flipV="1">
            <a:off x="1386224" y="3658672"/>
            <a:ext cx="0" cy="537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Rectangle 128">
            <a:extLst>
              <a:ext uri="{FF2B5EF4-FFF2-40B4-BE49-F238E27FC236}">
                <a16:creationId xmlns:a16="http://schemas.microsoft.com/office/drawing/2014/main" id="{0581A4C2-75F1-4A5C-9403-36E8B4950993}"/>
              </a:ext>
            </a:extLst>
          </p:cNvPr>
          <p:cNvSpPr/>
          <p:nvPr/>
        </p:nvSpPr>
        <p:spPr>
          <a:xfrm>
            <a:off x="4855776" y="5572822"/>
            <a:ext cx="1170553" cy="5206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TDoA values broadcast</a:t>
            </a:r>
          </a:p>
        </p:txBody>
      </p:sp>
      <p:cxnSp>
        <p:nvCxnSpPr>
          <p:cNvPr id="130" name="Connector: Elbow 129">
            <a:extLst>
              <a:ext uri="{FF2B5EF4-FFF2-40B4-BE49-F238E27FC236}">
                <a16:creationId xmlns:a16="http://schemas.microsoft.com/office/drawing/2014/main" id="{47C1E75E-C7CE-4331-BAFE-BF46EF83B9D5}"/>
              </a:ext>
            </a:extLst>
          </p:cNvPr>
          <p:cNvCxnSpPr>
            <a:cxnSpLocks/>
            <a:stCxn id="77" idx="3"/>
            <a:endCxn id="129" idx="1"/>
          </p:cNvCxnSpPr>
          <p:nvPr/>
        </p:nvCxnSpPr>
        <p:spPr>
          <a:xfrm flipV="1">
            <a:off x="3871311" y="5833130"/>
            <a:ext cx="984465" cy="53384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5" name="Picture 2" descr="Image result for BLE broadcast symbol">
            <a:extLst>
              <a:ext uri="{FF2B5EF4-FFF2-40B4-BE49-F238E27FC236}">
                <a16:creationId xmlns:a16="http://schemas.microsoft.com/office/drawing/2014/main" id="{159C94EB-34A7-47F8-AED9-BC4828B3B7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6573" y="5621101"/>
            <a:ext cx="745833" cy="437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3A05C351-0D66-4FFE-BB51-2C6C64D08BD8}"/>
              </a:ext>
            </a:extLst>
          </p:cNvPr>
          <p:cNvCxnSpPr>
            <a:cxnSpLocks/>
            <a:stCxn id="92" idx="2"/>
            <a:endCxn id="94" idx="0"/>
          </p:cNvCxnSpPr>
          <p:nvPr/>
        </p:nvCxnSpPr>
        <p:spPr>
          <a:xfrm flipH="1">
            <a:off x="3008228" y="3505218"/>
            <a:ext cx="1" cy="242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ectangle 91">
            <a:extLst>
              <a:ext uri="{FF2B5EF4-FFF2-40B4-BE49-F238E27FC236}">
                <a16:creationId xmlns:a16="http://schemas.microsoft.com/office/drawing/2014/main" id="{CF30842C-8FB0-4E50-95F8-7B3DA1D64ED2}"/>
              </a:ext>
            </a:extLst>
          </p:cNvPr>
          <p:cNvSpPr/>
          <p:nvPr/>
        </p:nvSpPr>
        <p:spPr>
          <a:xfrm>
            <a:off x="2145146" y="3217908"/>
            <a:ext cx="1726165" cy="28731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Comparator Threshold Crossed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8B5E58C1-1568-414D-AF30-E75FECB87E19}"/>
              </a:ext>
            </a:extLst>
          </p:cNvPr>
          <p:cNvSpPr/>
          <p:nvPr/>
        </p:nvSpPr>
        <p:spPr>
          <a:xfrm>
            <a:off x="2140166" y="3747561"/>
            <a:ext cx="1736124" cy="353216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Timer starts</a:t>
            </a:r>
          </a:p>
          <a:p>
            <a:pPr algn="ctr"/>
            <a:r>
              <a:rPr lang="en-US" sz="1050" dirty="0">
                <a:solidFill>
                  <a:schemeClr val="tx1"/>
                </a:solidFill>
              </a:rPr>
              <a:t>Comp INT Disabled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76934F39-A5F6-4836-A333-22FE263413E5}"/>
              </a:ext>
            </a:extLst>
          </p:cNvPr>
          <p:cNvSpPr txBox="1"/>
          <p:nvPr/>
        </p:nvSpPr>
        <p:spPr>
          <a:xfrm>
            <a:off x="2810401" y="2400359"/>
            <a:ext cx="4042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Yes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A854EABE-8BED-441B-AE25-B070BE3C725A}"/>
              </a:ext>
            </a:extLst>
          </p:cNvPr>
          <p:cNvSpPr/>
          <p:nvPr/>
        </p:nvSpPr>
        <p:spPr>
          <a:xfrm>
            <a:off x="2145146" y="4343120"/>
            <a:ext cx="1726165" cy="32846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Comp INT Enabled after 1.9s</a:t>
            </a:r>
          </a:p>
        </p:txBody>
      </p: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B5311494-7C1A-4149-B535-82080C3254A0}"/>
              </a:ext>
            </a:extLst>
          </p:cNvPr>
          <p:cNvCxnSpPr>
            <a:cxnSpLocks/>
            <a:stCxn id="143" idx="2"/>
            <a:endCxn id="144" idx="0"/>
          </p:cNvCxnSpPr>
          <p:nvPr/>
        </p:nvCxnSpPr>
        <p:spPr>
          <a:xfrm flipH="1">
            <a:off x="3008228" y="5201235"/>
            <a:ext cx="1" cy="242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Rectangle 142">
            <a:extLst>
              <a:ext uri="{FF2B5EF4-FFF2-40B4-BE49-F238E27FC236}">
                <a16:creationId xmlns:a16="http://schemas.microsoft.com/office/drawing/2014/main" id="{108A8559-7246-4442-9775-C1694DA4732C}"/>
              </a:ext>
            </a:extLst>
          </p:cNvPr>
          <p:cNvSpPr/>
          <p:nvPr/>
        </p:nvSpPr>
        <p:spPr>
          <a:xfrm>
            <a:off x="2145146" y="4913925"/>
            <a:ext cx="1726165" cy="28731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Comparator Threshold Crossed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21FF5405-3F24-457D-8B5E-8FB8D04EA739}"/>
              </a:ext>
            </a:extLst>
          </p:cNvPr>
          <p:cNvSpPr/>
          <p:nvPr/>
        </p:nvSpPr>
        <p:spPr>
          <a:xfrm>
            <a:off x="2140166" y="5443578"/>
            <a:ext cx="1736124" cy="501656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Timer value captured &amp; stored as TDoA(</a:t>
            </a:r>
            <a:r>
              <a:rPr lang="en-US" sz="1050" dirty="0" err="1">
                <a:solidFill>
                  <a:schemeClr val="tx1"/>
                </a:solidFill>
              </a:rPr>
              <a:t>i</a:t>
            </a:r>
            <a:r>
              <a:rPr lang="en-US" sz="105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sz="1050" dirty="0">
                <a:solidFill>
                  <a:schemeClr val="tx1"/>
                </a:solidFill>
              </a:rPr>
              <a:t>Comp INT Disabled</a:t>
            </a:r>
          </a:p>
        </p:txBody>
      </p: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3BD653D2-8504-46E3-9C25-EB16DD36144C}"/>
              </a:ext>
            </a:extLst>
          </p:cNvPr>
          <p:cNvCxnSpPr>
            <a:cxnSpLocks/>
            <a:stCxn id="94" idx="2"/>
            <a:endCxn id="141" idx="0"/>
          </p:cNvCxnSpPr>
          <p:nvPr/>
        </p:nvCxnSpPr>
        <p:spPr>
          <a:xfrm>
            <a:off x="3008228" y="4100777"/>
            <a:ext cx="1" cy="242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5243216A-33EB-4B38-89C9-8C38C2F3B83A}"/>
              </a:ext>
            </a:extLst>
          </p:cNvPr>
          <p:cNvCxnSpPr>
            <a:cxnSpLocks/>
            <a:stCxn id="141" idx="2"/>
            <a:endCxn id="143" idx="0"/>
          </p:cNvCxnSpPr>
          <p:nvPr/>
        </p:nvCxnSpPr>
        <p:spPr>
          <a:xfrm>
            <a:off x="3008229" y="4671582"/>
            <a:ext cx="0" cy="242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83FA3407-EFF1-4590-AF58-6A326C379BD6}"/>
              </a:ext>
            </a:extLst>
          </p:cNvPr>
          <p:cNvCxnSpPr>
            <a:cxnSpLocks/>
            <a:stCxn id="144" idx="2"/>
            <a:endCxn id="77" idx="0"/>
          </p:cNvCxnSpPr>
          <p:nvPr/>
        </p:nvCxnSpPr>
        <p:spPr>
          <a:xfrm>
            <a:off x="3008228" y="5945234"/>
            <a:ext cx="1" cy="2423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: Elbow 182">
            <a:extLst>
              <a:ext uri="{FF2B5EF4-FFF2-40B4-BE49-F238E27FC236}">
                <a16:creationId xmlns:a16="http://schemas.microsoft.com/office/drawing/2014/main" id="{132DA591-4857-402C-851F-C9DC8DA1393E}"/>
              </a:ext>
            </a:extLst>
          </p:cNvPr>
          <p:cNvCxnSpPr>
            <a:cxnSpLocks/>
            <a:stCxn id="144" idx="3"/>
            <a:endCxn id="141" idx="3"/>
          </p:cNvCxnSpPr>
          <p:nvPr/>
        </p:nvCxnSpPr>
        <p:spPr>
          <a:xfrm flipH="1" flipV="1">
            <a:off x="3871311" y="4507351"/>
            <a:ext cx="4979" cy="1187055"/>
          </a:xfrm>
          <a:prstGeom prst="bentConnector3">
            <a:avLst>
              <a:gd name="adj1" fmla="val -459128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extBox 187">
            <a:extLst>
              <a:ext uri="{FF2B5EF4-FFF2-40B4-BE49-F238E27FC236}">
                <a16:creationId xmlns:a16="http://schemas.microsoft.com/office/drawing/2014/main" id="{5AD4FAFF-94A7-4B28-94F0-7D2506833B03}"/>
              </a:ext>
            </a:extLst>
          </p:cNvPr>
          <p:cNvSpPr txBox="1"/>
          <p:nvPr/>
        </p:nvSpPr>
        <p:spPr>
          <a:xfrm>
            <a:off x="3883752" y="4930109"/>
            <a:ext cx="13051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000" dirty="0"/>
              <a:t>Repeat for all TDoA</a:t>
            </a:r>
          </a:p>
          <a:p>
            <a:pPr algn="ctr"/>
            <a:r>
              <a:rPr lang="en-IN" sz="1000" dirty="0"/>
              <a:t>(</a:t>
            </a:r>
            <a:r>
              <a:rPr lang="en-IN" sz="1000" dirty="0" err="1"/>
              <a:t>i</a:t>
            </a:r>
            <a:r>
              <a:rPr lang="en-IN" sz="1000" dirty="0"/>
              <a:t>=1,2,3)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C181B2-A8E6-4D31-8CBC-C03D8218270D}"/>
              </a:ext>
            </a:extLst>
          </p:cNvPr>
          <p:cNvSpPr/>
          <p:nvPr/>
        </p:nvSpPr>
        <p:spPr>
          <a:xfrm>
            <a:off x="5422973" y="2545855"/>
            <a:ext cx="859756" cy="65112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275F46-D130-453C-8081-2DBAA52F2D4E}"/>
              </a:ext>
            </a:extLst>
          </p:cNvPr>
          <p:cNvSpPr/>
          <p:nvPr/>
        </p:nvSpPr>
        <p:spPr>
          <a:xfrm>
            <a:off x="7142488" y="2545855"/>
            <a:ext cx="261979" cy="65112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1635F0-7C36-4D66-9D7E-72C33A7DDE8C}"/>
              </a:ext>
            </a:extLst>
          </p:cNvPr>
          <p:cNvSpPr/>
          <p:nvPr/>
        </p:nvSpPr>
        <p:spPr>
          <a:xfrm>
            <a:off x="8862005" y="2545855"/>
            <a:ext cx="261979" cy="65112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200A5AB-948C-4AC9-81BC-56E2D4FB4525}"/>
              </a:ext>
            </a:extLst>
          </p:cNvPr>
          <p:cNvCxnSpPr>
            <a:cxnSpLocks/>
          </p:cNvCxnSpPr>
          <p:nvPr/>
        </p:nvCxnSpPr>
        <p:spPr>
          <a:xfrm>
            <a:off x="4551517" y="3196984"/>
            <a:ext cx="75172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DFF1BED-38A3-4A95-B8F4-513D0BF2D36A}"/>
              </a:ext>
            </a:extLst>
          </p:cNvPr>
          <p:cNvCxnSpPr>
            <a:cxnSpLocks/>
          </p:cNvCxnSpPr>
          <p:nvPr/>
        </p:nvCxnSpPr>
        <p:spPr>
          <a:xfrm flipV="1">
            <a:off x="5422973" y="2293377"/>
            <a:ext cx="0" cy="11870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274F4EC-79CC-4696-A9B3-EDEAB824E348}"/>
              </a:ext>
            </a:extLst>
          </p:cNvPr>
          <p:cNvSpPr txBox="1"/>
          <p:nvPr/>
        </p:nvSpPr>
        <p:spPr>
          <a:xfrm>
            <a:off x="6916264" y="4758677"/>
            <a:ext cx="1229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Timers start</a:t>
            </a:r>
          </a:p>
          <a:p>
            <a:r>
              <a:rPr lang="en-IN" sz="1000" dirty="0"/>
              <a:t>Comp INT Disable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34E955-2F72-436D-9A11-263416E7F287}"/>
              </a:ext>
            </a:extLst>
          </p:cNvPr>
          <p:cNvSpPr txBox="1"/>
          <p:nvPr/>
        </p:nvSpPr>
        <p:spPr>
          <a:xfrm>
            <a:off x="8884390" y="4758677"/>
            <a:ext cx="13131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Timer value capture</a:t>
            </a:r>
          </a:p>
          <a:p>
            <a:r>
              <a:rPr lang="en-IN" sz="1000" dirty="0"/>
              <a:t>Comp INT Disable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48F081-6552-4E3C-B9E3-8FE7C010ED0B}"/>
              </a:ext>
            </a:extLst>
          </p:cNvPr>
          <p:cNvSpPr/>
          <p:nvPr/>
        </p:nvSpPr>
        <p:spPr>
          <a:xfrm>
            <a:off x="7685833" y="3838101"/>
            <a:ext cx="261979" cy="65112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F3AD335-B2E5-427C-99EC-117DB13CF1E7}"/>
              </a:ext>
            </a:extLst>
          </p:cNvPr>
          <p:cNvSpPr/>
          <p:nvPr/>
        </p:nvSpPr>
        <p:spPr>
          <a:xfrm>
            <a:off x="9267432" y="3838101"/>
            <a:ext cx="261979" cy="65112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9ECD3CD-92FB-46F2-89C6-4DD8512D796C}"/>
              </a:ext>
            </a:extLst>
          </p:cNvPr>
          <p:cNvSpPr/>
          <p:nvPr/>
        </p:nvSpPr>
        <p:spPr>
          <a:xfrm>
            <a:off x="10762245" y="3838101"/>
            <a:ext cx="261979" cy="65112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0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F798044-3023-4582-AB7E-0EB20E01493B}"/>
              </a:ext>
            </a:extLst>
          </p:cNvPr>
          <p:cNvCxnSpPr>
            <a:cxnSpLocks/>
          </p:cNvCxnSpPr>
          <p:nvPr/>
        </p:nvCxnSpPr>
        <p:spPr>
          <a:xfrm>
            <a:off x="4551517" y="4489228"/>
            <a:ext cx="75172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D234633-D66D-4E18-BC66-D57662A33BB7}"/>
              </a:ext>
            </a:extLst>
          </p:cNvPr>
          <p:cNvCxnSpPr>
            <a:cxnSpLocks/>
          </p:cNvCxnSpPr>
          <p:nvPr/>
        </p:nvCxnSpPr>
        <p:spPr>
          <a:xfrm flipV="1">
            <a:off x="5422973" y="3585622"/>
            <a:ext cx="0" cy="11870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62A3DAC-5065-462A-9A7E-E788CA7A4AAB}"/>
              </a:ext>
            </a:extLst>
          </p:cNvPr>
          <p:cNvSpPr txBox="1"/>
          <p:nvPr/>
        </p:nvSpPr>
        <p:spPr>
          <a:xfrm>
            <a:off x="10739377" y="4770499"/>
            <a:ext cx="13131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Timer value capture</a:t>
            </a:r>
          </a:p>
          <a:p>
            <a:r>
              <a:rPr lang="en-IN" sz="1000" dirty="0"/>
              <a:t>Comp INT Disable</a:t>
            </a:r>
          </a:p>
        </p:txBody>
      </p: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601CF6FF-67A3-47C3-9F9A-AA26876CEFE0}"/>
              </a:ext>
            </a:extLst>
          </p:cNvPr>
          <p:cNvCxnSpPr>
            <a:cxnSpLocks/>
          </p:cNvCxnSpPr>
          <p:nvPr/>
        </p:nvCxnSpPr>
        <p:spPr>
          <a:xfrm rot="16200000" flipV="1">
            <a:off x="7576633" y="4598432"/>
            <a:ext cx="269446" cy="5104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ADC357E2-7D6E-4973-8638-1F68A44AB190}"/>
              </a:ext>
            </a:extLst>
          </p:cNvPr>
          <p:cNvCxnSpPr>
            <a:cxnSpLocks/>
          </p:cNvCxnSpPr>
          <p:nvPr/>
        </p:nvCxnSpPr>
        <p:spPr>
          <a:xfrm rot="16200000" flipV="1">
            <a:off x="9192758" y="4556139"/>
            <a:ext cx="269446" cy="13563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B9138250-9056-49C3-8485-F27D225AB08B}"/>
              </a:ext>
            </a:extLst>
          </p:cNvPr>
          <p:cNvCxnSpPr>
            <a:cxnSpLocks/>
          </p:cNvCxnSpPr>
          <p:nvPr/>
        </p:nvCxnSpPr>
        <p:spPr>
          <a:xfrm rot="16200000" flipV="1">
            <a:off x="10689210" y="4561828"/>
            <a:ext cx="281268" cy="13607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CDBE4B0-0634-42ED-89B3-43A5835D2E54}"/>
              </a:ext>
            </a:extLst>
          </p:cNvPr>
          <p:cNvSpPr txBox="1"/>
          <p:nvPr/>
        </p:nvSpPr>
        <p:spPr>
          <a:xfrm>
            <a:off x="4663612" y="2713925"/>
            <a:ext cx="7344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b="1" dirty="0"/>
              <a:t>Speaker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73574C-514E-48B2-B83A-2E0D80C286CA}"/>
              </a:ext>
            </a:extLst>
          </p:cNvPr>
          <p:cNvSpPr txBox="1"/>
          <p:nvPr/>
        </p:nvSpPr>
        <p:spPr>
          <a:xfrm>
            <a:off x="4489146" y="3756217"/>
            <a:ext cx="10583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/>
              <a:t>Microphone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15070E6-AE42-45CA-B350-C50759135737}"/>
              </a:ext>
            </a:extLst>
          </p:cNvPr>
          <p:cNvSpPr txBox="1"/>
          <p:nvPr/>
        </p:nvSpPr>
        <p:spPr>
          <a:xfrm>
            <a:off x="6977006" y="2312334"/>
            <a:ext cx="8274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dirty="0"/>
              <a:t>Speaker 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0759F3-09A8-4282-847C-48D8F2448FAD}"/>
              </a:ext>
            </a:extLst>
          </p:cNvPr>
          <p:cNvSpPr txBox="1"/>
          <p:nvPr/>
        </p:nvSpPr>
        <p:spPr>
          <a:xfrm>
            <a:off x="8666513" y="2299793"/>
            <a:ext cx="8274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dirty="0"/>
              <a:t>Speaker 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DA215A-CF22-4D24-B4FD-A9C9AB9295E0}"/>
              </a:ext>
            </a:extLst>
          </p:cNvPr>
          <p:cNvSpPr txBox="1"/>
          <p:nvPr/>
        </p:nvSpPr>
        <p:spPr>
          <a:xfrm>
            <a:off x="10391581" y="2314929"/>
            <a:ext cx="8274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dirty="0"/>
              <a:t>Speaker 3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843203C-446A-49D2-A95C-A42741B03E80}"/>
              </a:ext>
            </a:extLst>
          </p:cNvPr>
          <p:cNvSpPr/>
          <p:nvPr/>
        </p:nvSpPr>
        <p:spPr>
          <a:xfrm>
            <a:off x="10581520" y="2549777"/>
            <a:ext cx="261978" cy="65112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8E3F200-9247-4EF3-91F2-50F28F06AE36}"/>
              </a:ext>
            </a:extLst>
          </p:cNvPr>
          <p:cNvSpPr/>
          <p:nvPr/>
        </p:nvSpPr>
        <p:spPr>
          <a:xfrm>
            <a:off x="5905362" y="3838100"/>
            <a:ext cx="859757" cy="65112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87D3382-B6EA-4C2D-8F7B-837A9E50D3E6}"/>
              </a:ext>
            </a:extLst>
          </p:cNvPr>
          <p:cNvSpPr txBox="1"/>
          <p:nvPr/>
        </p:nvSpPr>
        <p:spPr>
          <a:xfrm>
            <a:off x="5422974" y="2289455"/>
            <a:ext cx="106311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dirty="0"/>
              <a:t>Wakeup Tone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9478AD7-40DB-40E3-ACBD-FFDE84BA9536}"/>
              </a:ext>
            </a:extLst>
          </p:cNvPr>
          <p:cNvCxnSpPr>
            <a:cxnSpLocks/>
          </p:cNvCxnSpPr>
          <p:nvPr/>
        </p:nvCxnSpPr>
        <p:spPr>
          <a:xfrm>
            <a:off x="5422973" y="2977346"/>
            <a:ext cx="85975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9F1C009-320E-4514-A0E4-2AA7E51D9311}"/>
              </a:ext>
            </a:extLst>
          </p:cNvPr>
          <p:cNvCxnSpPr>
            <a:cxnSpLocks/>
          </p:cNvCxnSpPr>
          <p:nvPr/>
        </p:nvCxnSpPr>
        <p:spPr>
          <a:xfrm flipV="1">
            <a:off x="7142488" y="2977347"/>
            <a:ext cx="255810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5C356BB9-6593-4E47-89A1-1FA51FA4F32D}"/>
              </a:ext>
            </a:extLst>
          </p:cNvPr>
          <p:cNvCxnSpPr>
            <a:cxnSpLocks/>
          </p:cNvCxnSpPr>
          <p:nvPr/>
        </p:nvCxnSpPr>
        <p:spPr>
          <a:xfrm>
            <a:off x="7129708" y="3315404"/>
            <a:ext cx="173229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1FDC294F-B929-4E76-B07E-E32CD4959DBE}"/>
              </a:ext>
            </a:extLst>
          </p:cNvPr>
          <p:cNvCxnSpPr>
            <a:cxnSpLocks/>
          </p:cNvCxnSpPr>
          <p:nvPr/>
        </p:nvCxnSpPr>
        <p:spPr>
          <a:xfrm>
            <a:off x="8849223" y="3320316"/>
            <a:ext cx="173229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C1BD8B6C-19E7-44BE-9FC7-43D021CB8194}"/>
              </a:ext>
            </a:extLst>
          </p:cNvPr>
          <p:cNvSpPr txBox="1"/>
          <p:nvPr/>
        </p:nvSpPr>
        <p:spPr>
          <a:xfrm>
            <a:off x="5639488" y="2739456"/>
            <a:ext cx="33374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dirty="0"/>
              <a:t>1s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D0F282D-D98A-4D70-B794-8539D8DCFBAE}"/>
              </a:ext>
            </a:extLst>
          </p:cNvPr>
          <p:cNvSpPr txBox="1"/>
          <p:nvPr/>
        </p:nvSpPr>
        <p:spPr>
          <a:xfrm>
            <a:off x="7060714" y="2687667"/>
            <a:ext cx="4507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dirty="0"/>
              <a:t>0.1s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8859C29-8AE6-4ACD-9843-1DE56639793B}"/>
              </a:ext>
            </a:extLst>
          </p:cNvPr>
          <p:cNvSpPr txBox="1"/>
          <p:nvPr/>
        </p:nvSpPr>
        <p:spPr>
          <a:xfrm>
            <a:off x="8786272" y="2685049"/>
            <a:ext cx="4507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dirty="0"/>
              <a:t>0.1s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4BE2DAF-DAE6-40B1-9AE0-4242EFFEBE13}"/>
              </a:ext>
            </a:extLst>
          </p:cNvPr>
          <p:cNvSpPr txBox="1"/>
          <p:nvPr/>
        </p:nvSpPr>
        <p:spPr>
          <a:xfrm>
            <a:off x="10499746" y="2693386"/>
            <a:ext cx="4507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dirty="0"/>
              <a:t>0.1s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9FB3CA4-27D0-4557-A1AD-1DB71029FFC6}"/>
              </a:ext>
            </a:extLst>
          </p:cNvPr>
          <p:cNvSpPr txBox="1"/>
          <p:nvPr/>
        </p:nvSpPr>
        <p:spPr>
          <a:xfrm>
            <a:off x="7915736" y="3306426"/>
            <a:ext cx="33374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dirty="0"/>
              <a:t>2s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7A7085E-741C-43CD-AD70-162AD79FE2EB}"/>
              </a:ext>
            </a:extLst>
          </p:cNvPr>
          <p:cNvSpPr txBox="1"/>
          <p:nvPr/>
        </p:nvSpPr>
        <p:spPr>
          <a:xfrm>
            <a:off x="9527324" y="3311106"/>
            <a:ext cx="33374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dirty="0"/>
              <a:t>2s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006AB65-B937-4E73-AB67-C543EB86010F}"/>
              </a:ext>
            </a:extLst>
          </p:cNvPr>
          <p:cNvSpPr txBox="1"/>
          <p:nvPr/>
        </p:nvSpPr>
        <p:spPr>
          <a:xfrm>
            <a:off x="9555368" y="5226221"/>
            <a:ext cx="11993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Comp INT Enable</a:t>
            </a:r>
          </a:p>
        </p:txBody>
      </p:sp>
      <p:cxnSp>
        <p:nvCxnSpPr>
          <p:cNvPr id="72" name="Connector: Curved 71">
            <a:extLst>
              <a:ext uri="{FF2B5EF4-FFF2-40B4-BE49-F238E27FC236}">
                <a16:creationId xmlns:a16="http://schemas.microsoft.com/office/drawing/2014/main" id="{58453EFA-2EE0-40E3-90EC-70CFF79CEBE7}"/>
              </a:ext>
            </a:extLst>
          </p:cNvPr>
          <p:cNvCxnSpPr>
            <a:cxnSpLocks/>
            <a:stCxn id="66" idx="0"/>
          </p:cNvCxnSpPr>
          <p:nvPr/>
        </p:nvCxnSpPr>
        <p:spPr>
          <a:xfrm rot="5400000" flipH="1" flipV="1">
            <a:off x="9990344" y="4671733"/>
            <a:ext cx="719196" cy="389780"/>
          </a:xfrm>
          <a:prstGeom prst="curvedConnector3">
            <a:avLst/>
          </a:prstGeom>
          <a:ln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8377A274-D288-4E88-B2F6-02D05219048D}"/>
              </a:ext>
            </a:extLst>
          </p:cNvPr>
          <p:cNvCxnSpPr>
            <a:cxnSpLocks/>
          </p:cNvCxnSpPr>
          <p:nvPr/>
        </p:nvCxnSpPr>
        <p:spPr>
          <a:xfrm flipV="1">
            <a:off x="10974785" y="2816496"/>
            <a:ext cx="827420" cy="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2E09CE8C-A95E-4D0E-81F8-965DC9D827ED}"/>
              </a:ext>
            </a:extLst>
          </p:cNvPr>
          <p:cNvCxnSpPr>
            <a:cxnSpLocks/>
          </p:cNvCxnSpPr>
          <p:nvPr/>
        </p:nvCxnSpPr>
        <p:spPr>
          <a:xfrm flipV="1">
            <a:off x="11156534" y="4092535"/>
            <a:ext cx="827420" cy="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95E3BDCC-0842-4C55-A13C-53744400FA25}"/>
              </a:ext>
            </a:extLst>
          </p:cNvPr>
          <p:cNvCxnSpPr>
            <a:cxnSpLocks/>
          </p:cNvCxnSpPr>
          <p:nvPr/>
        </p:nvCxnSpPr>
        <p:spPr>
          <a:xfrm>
            <a:off x="7670162" y="5571862"/>
            <a:ext cx="161193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21B598DF-432F-4D0F-9D0F-0154438484D4}"/>
              </a:ext>
            </a:extLst>
          </p:cNvPr>
          <p:cNvCxnSpPr>
            <a:cxnSpLocks/>
          </p:cNvCxnSpPr>
          <p:nvPr/>
        </p:nvCxnSpPr>
        <p:spPr>
          <a:xfrm>
            <a:off x="7692744" y="5945234"/>
            <a:ext cx="315075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CC30B508-7F7A-4A7A-9BFC-F8774DF2D368}"/>
              </a:ext>
            </a:extLst>
          </p:cNvPr>
          <p:cNvSpPr txBox="1"/>
          <p:nvPr/>
        </p:nvSpPr>
        <p:spPr>
          <a:xfrm>
            <a:off x="8279245" y="5572713"/>
            <a:ext cx="7056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TDoA 1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25CE443-BBE5-44F0-BA17-E232C9DA1707}"/>
              </a:ext>
            </a:extLst>
          </p:cNvPr>
          <p:cNvSpPr txBox="1"/>
          <p:nvPr/>
        </p:nvSpPr>
        <p:spPr>
          <a:xfrm>
            <a:off x="8989975" y="5949031"/>
            <a:ext cx="7056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chemeClr val="accent2">
                    <a:lumMod val="75000"/>
                  </a:schemeClr>
                </a:solidFill>
              </a:rPr>
              <a:t>TDoA 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620BC57-1212-49C4-AF74-F267704E1FDC}"/>
              </a:ext>
            </a:extLst>
          </p:cNvPr>
          <p:cNvSpPr txBox="1"/>
          <p:nvPr/>
        </p:nvSpPr>
        <p:spPr>
          <a:xfrm>
            <a:off x="9570879" y="6366976"/>
            <a:ext cx="7056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chemeClr val="accent1">
                    <a:lumMod val="75000"/>
                  </a:schemeClr>
                </a:solidFill>
              </a:rPr>
              <a:t>TDoA 3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B5D9A8E-E2D0-428F-8BA3-89A5D512D753}"/>
              </a:ext>
            </a:extLst>
          </p:cNvPr>
          <p:cNvCxnSpPr>
            <a:cxnSpLocks/>
          </p:cNvCxnSpPr>
          <p:nvPr/>
        </p:nvCxnSpPr>
        <p:spPr>
          <a:xfrm flipH="1">
            <a:off x="7711356" y="6341105"/>
            <a:ext cx="32634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7FE8264A-38CF-4815-9677-D422C162E0AE}"/>
              </a:ext>
            </a:extLst>
          </p:cNvPr>
          <p:cNvCxnSpPr>
            <a:cxnSpLocks/>
          </p:cNvCxnSpPr>
          <p:nvPr/>
        </p:nvCxnSpPr>
        <p:spPr>
          <a:xfrm>
            <a:off x="10950837" y="6340736"/>
            <a:ext cx="1101720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6678E35-0B79-DC6B-CC0B-36D1EC5AB973}"/>
              </a:ext>
            </a:extLst>
          </p:cNvPr>
          <p:cNvSpPr txBox="1"/>
          <p:nvPr/>
        </p:nvSpPr>
        <p:spPr>
          <a:xfrm>
            <a:off x="8063647" y="5204246"/>
            <a:ext cx="11993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Comp INT Enable</a:t>
            </a:r>
          </a:p>
        </p:txBody>
      </p:sp>
      <p:cxnSp>
        <p:nvCxnSpPr>
          <p:cNvPr id="29" name="Connector: Curved 28">
            <a:extLst>
              <a:ext uri="{FF2B5EF4-FFF2-40B4-BE49-F238E27FC236}">
                <a16:creationId xmlns:a16="http://schemas.microsoft.com/office/drawing/2014/main" id="{BA54D97F-7349-BC70-5636-61DA8D319BD8}"/>
              </a:ext>
            </a:extLst>
          </p:cNvPr>
          <p:cNvCxnSpPr>
            <a:cxnSpLocks/>
            <a:stCxn id="27" idx="0"/>
          </p:cNvCxnSpPr>
          <p:nvPr/>
        </p:nvCxnSpPr>
        <p:spPr>
          <a:xfrm rot="5400000" flipH="1" flipV="1">
            <a:off x="8498623" y="4649758"/>
            <a:ext cx="719196" cy="389780"/>
          </a:xfrm>
          <a:prstGeom prst="curvedConnector3">
            <a:avLst/>
          </a:prstGeom>
          <a:ln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D076F0B-F044-0331-0458-A2D52192EF5B}"/>
              </a:ext>
            </a:extLst>
          </p:cNvPr>
          <p:cNvSpPr txBox="1"/>
          <p:nvPr/>
        </p:nvSpPr>
        <p:spPr>
          <a:xfrm>
            <a:off x="4476097" y="1601154"/>
            <a:ext cx="14040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i="1" dirty="0"/>
              <a:t>INT: Interrupt</a:t>
            </a:r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4212808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96950" y="12356"/>
            <a:ext cx="10829925" cy="564257"/>
          </a:xfrm>
        </p:spPr>
        <p:txBody>
          <a:bodyPr/>
          <a:lstStyle/>
          <a:p>
            <a:r>
              <a:rPr lang="en-US" sz="3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  <a:endParaRPr lang="en-IN" sz="24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77B64DCF-9B88-4B56-88F2-78FF3D096F37}"/>
              </a:ext>
            </a:extLst>
          </p:cNvPr>
          <p:cNvSpPr txBox="1">
            <a:spLocks/>
          </p:cNvSpPr>
          <p:nvPr/>
        </p:nvSpPr>
        <p:spPr>
          <a:xfrm>
            <a:off x="105508" y="4830901"/>
            <a:ext cx="6155958" cy="1833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–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altLang="en-US" sz="1600" dirty="0"/>
              <a:t>A “training” data set was collected. Each set consists of TDoA1, TDoA2, TDoA3 and the seat label</a:t>
            </a:r>
          </a:p>
          <a:p>
            <a:r>
              <a:rPr lang="en-US" altLang="en-US" sz="1600" dirty="0"/>
              <a:t>A New “test” set was taken separately. </a:t>
            </a:r>
          </a:p>
          <a:p>
            <a:r>
              <a:rPr lang="en-US" altLang="en-US" sz="1600" dirty="0"/>
              <a:t>Only the TDoA values from the test set are extracted and run through the </a:t>
            </a:r>
            <a:r>
              <a:rPr lang="en-US" altLang="en-US" sz="1600" dirty="0" err="1"/>
              <a:t>kNN</a:t>
            </a:r>
            <a:r>
              <a:rPr lang="en-US" altLang="en-US" sz="1600" dirty="0"/>
              <a:t> Algorithm.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B8863AE-4D40-4277-95BD-09F6F9754B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6029804"/>
              </p:ext>
            </p:extLst>
          </p:nvPr>
        </p:nvGraphicFramePr>
        <p:xfrm>
          <a:off x="898449" y="861803"/>
          <a:ext cx="9065921" cy="3837114"/>
        </p:xfrm>
        <a:graphic>
          <a:graphicData uri="http://schemas.openxmlformats.org/drawingml/2006/table">
            <a:tbl>
              <a:tblPr/>
              <a:tblGrid>
                <a:gridCol w="569360">
                  <a:extLst>
                    <a:ext uri="{9D8B030D-6E8A-4147-A177-3AD203B41FA5}">
                      <a16:colId xmlns:a16="http://schemas.microsoft.com/office/drawing/2014/main" val="3574763504"/>
                    </a:ext>
                  </a:extLst>
                </a:gridCol>
                <a:gridCol w="421347">
                  <a:extLst>
                    <a:ext uri="{9D8B030D-6E8A-4147-A177-3AD203B41FA5}">
                      <a16:colId xmlns:a16="http://schemas.microsoft.com/office/drawing/2014/main" val="1703911656"/>
                    </a:ext>
                  </a:extLst>
                </a:gridCol>
                <a:gridCol w="448623">
                  <a:extLst>
                    <a:ext uri="{9D8B030D-6E8A-4147-A177-3AD203B41FA5}">
                      <a16:colId xmlns:a16="http://schemas.microsoft.com/office/drawing/2014/main" val="1691526600"/>
                    </a:ext>
                  </a:extLst>
                </a:gridCol>
                <a:gridCol w="448623">
                  <a:extLst>
                    <a:ext uri="{9D8B030D-6E8A-4147-A177-3AD203B41FA5}">
                      <a16:colId xmlns:a16="http://schemas.microsoft.com/office/drawing/2014/main" val="3010501765"/>
                    </a:ext>
                  </a:extLst>
                </a:gridCol>
                <a:gridCol w="448623">
                  <a:extLst>
                    <a:ext uri="{9D8B030D-6E8A-4147-A177-3AD203B41FA5}">
                      <a16:colId xmlns:a16="http://schemas.microsoft.com/office/drawing/2014/main" val="1506529812"/>
                    </a:ext>
                  </a:extLst>
                </a:gridCol>
                <a:gridCol w="448623">
                  <a:extLst>
                    <a:ext uri="{9D8B030D-6E8A-4147-A177-3AD203B41FA5}">
                      <a16:colId xmlns:a16="http://schemas.microsoft.com/office/drawing/2014/main" val="3678997907"/>
                    </a:ext>
                  </a:extLst>
                </a:gridCol>
                <a:gridCol w="448623">
                  <a:extLst>
                    <a:ext uri="{9D8B030D-6E8A-4147-A177-3AD203B41FA5}">
                      <a16:colId xmlns:a16="http://schemas.microsoft.com/office/drawing/2014/main" val="1282001906"/>
                    </a:ext>
                  </a:extLst>
                </a:gridCol>
                <a:gridCol w="448623">
                  <a:extLst>
                    <a:ext uri="{9D8B030D-6E8A-4147-A177-3AD203B41FA5}">
                      <a16:colId xmlns:a16="http://schemas.microsoft.com/office/drawing/2014/main" val="1367456646"/>
                    </a:ext>
                  </a:extLst>
                </a:gridCol>
                <a:gridCol w="448623">
                  <a:extLst>
                    <a:ext uri="{9D8B030D-6E8A-4147-A177-3AD203B41FA5}">
                      <a16:colId xmlns:a16="http://schemas.microsoft.com/office/drawing/2014/main" val="1385067212"/>
                    </a:ext>
                  </a:extLst>
                </a:gridCol>
                <a:gridCol w="448623">
                  <a:extLst>
                    <a:ext uri="{9D8B030D-6E8A-4147-A177-3AD203B41FA5}">
                      <a16:colId xmlns:a16="http://schemas.microsoft.com/office/drawing/2014/main" val="3929999125"/>
                    </a:ext>
                  </a:extLst>
                </a:gridCol>
                <a:gridCol w="448623">
                  <a:extLst>
                    <a:ext uri="{9D8B030D-6E8A-4147-A177-3AD203B41FA5}">
                      <a16:colId xmlns:a16="http://schemas.microsoft.com/office/drawing/2014/main" val="763516028"/>
                    </a:ext>
                  </a:extLst>
                </a:gridCol>
                <a:gridCol w="448623">
                  <a:extLst>
                    <a:ext uri="{9D8B030D-6E8A-4147-A177-3AD203B41FA5}">
                      <a16:colId xmlns:a16="http://schemas.microsoft.com/office/drawing/2014/main" val="1697984919"/>
                    </a:ext>
                  </a:extLst>
                </a:gridCol>
                <a:gridCol w="448623">
                  <a:extLst>
                    <a:ext uri="{9D8B030D-6E8A-4147-A177-3AD203B41FA5}">
                      <a16:colId xmlns:a16="http://schemas.microsoft.com/office/drawing/2014/main" val="1439483247"/>
                    </a:ext>
                  </a:extLst>
                </a:gridCol>
                <a:gridCol w="448623">
                  <a:extLst>
                    <a:ext uri="{9D8B030D-6E8A-4147-A177-3AD203B41FA5}">
                      <a16:colId xmlns:a16="http://schemas.microsoft.com/office/drawing/2014/main" val="2056584105"/>
                    </a:ext>
                  </a:extLst>
                </a:gridCol>
                <a:gridCol w="448623">
                  <a:extLst>
                    <a:ext uri="{9D8B030D-6E8A-4147-A177-3AD203B41FA5}">
                      <a16:colId xmlns:a16="http://schemas.microsoft.com/office/drawing/2014/main" val="2272516227"/>
                    </a:ext>
                  </a:extLst>
                </a:gridCol>
                <a:gridCol w="448623">
                  <a:extLst>
                    <a:ext uri="{9D8B030D-6E8A-4147-A177-3AD203B41FA5}">
                      <a16:colId xmlns:a16="http://schemas.microsoft.com/office/drawing/2014/main" val="1928233428"/>
                    </a:ext>
                  </a:extLst>
                </a:gridCol>
                <a:gridCol w="448623">
                  <a:extLst>
                    <a:ext uri="{9D8B030D-6E8A-4147-A177-3AD203B41FA5}">
                      <a16:colId xmlns:a16="http://schemas.microsoft.com/office/drawing/2014/main" val="3735333225"/>
                    </a:ext>
                  </a:extLst>
                </a:gridCol>
                <a:gridCol w="448623">
                  <a:extLst>
                    <a:ext uri="{9D8B030D-6E8A-4147-A177-3AD203B41FA5}">
                      <a16:colId xmlns:a16="http://schemas.microsoft.com/office/drawing/2014/main" val="3876765574"/>
                    </a:ext>
                  </a:extLst>
                </a:gridCol>
                <a:gridCol w="448623">
                  <a:extLst>
                    <a:ext uri="{9D8B030D-6E8A-4147-A177-3AD203B41FA5}">
                      <a16:colId xmlns:a16="http://schemas.microsoft.com/office/drawing/2014/main" val="3517730550"/>
                    </a:ext>
                  </a:extLst>
                </a:gridCol>
                <a:gridCol w="448623">
                  <a:extLst>
                    <a:ext uri="{9D8B030D-6E8A-4147-A177-3AD203B41FA5}">
                      <a16:colId xmlns:a16="http://schemas.microsoft.com/office/drawing/2014/main" val="3019113117"/>
                    </a:ext>
                  </a:extLst>
                </a:gridCol>
              </a:tblGrid>
              <a:tr h="378162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 test sets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Seat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1A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1B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1C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1D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1E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1F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2A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2B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2C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2D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2E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2F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3A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3B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3C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3D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3E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3F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827104"/>
                  </a:ext>
                </a:extLst>
              </a:tr>
              <a:tr h="19216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1A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9192400"/>
                  </a:ext>
                </a:extLst>
              </a:tr>
              <a:tr h="19216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1B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7677736"/>
                  </a:ext>
                </a:extLst>
              </a:tr>
              <a:tr h="19216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1C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806973"/>
                  </a:ext>
                </a:extLst>
              </a:tr>
              <a:tr h="19216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1D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5885309"/>
                  </a:ext>
                </a:extLst>
              </a:tr>
              <a:tr h="19216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1E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154142"/>
                  </a:ext>
                </a:extLst>
              </a:tr>
              <a:tr h="19216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1F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59768"/>
                  </a:ext>
                </a:extLst>
              </a:tr>
              <a:tr h="19216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2A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992606"/>
                  </a:ext>
                </a:extLst>
              </a:tr>
              <a:tr h="19216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2B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849799"/>
                  </a:ext>
                </a:extLst>
              </a:tr>
              <a:tr h="19216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2C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5741290"/>
                  </a:ext>
                </a:extLst>
              </a:tr>
              <a:tr h="19216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2D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7878659"/>
                  </a:ext>
                </a:extLst>
              </a:tr>
              <a:tr h="19216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2E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5698691"/>
                  </a:ext>
                </a:extLst>
              </a:tr>
              <a:tr h="19216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2F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8046522"/>
                  </a:ext>
                </a:extLst>
              </a:tr>
              <a:tr h="19216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3A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531150"/>
                  </a:ext>
                </a:extLst>
              </a:tr>
              <a:tr h="19216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3B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2508420"/>
                  </a:ext>
                </a:extLst>
              </a:tr>
              <a:tr h="19216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3C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7870851"/>
                  </a:ext>
                </a:extLst>
              </a:tr>
              <a:tr h="19216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3D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1079646"/>
                  </a:ext>
                </a:extLst>
              </a:tr>
              <a:tr h="19216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3E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146871"/>
                  </a:ext>
                </a:extLst>
              </a:tr>
              <a:tr h="19216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3F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</a:t>
                      </a:r>
                    </a:p>
                  </a:txBody>
                  <a:tcPr marL="7009" marR="7009" marT="700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3554559"/>
                  </a:ext>
                </a:extLst>
              </a:tr>
            </a:tbl>
          </a:graphicData>
        </a:graphic>
      </p:graphicFrame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E6FCB0EA-5EC6-40A7-AA56-A8570A696224}"/>
              </a:ext>
            </a:extLst>
          </p:cNvPr>
          <p:cNvSpPr txBox="1">
            <a:spLocks/>
          </p:cNvSpPr>
          <p:nvPr/>
        </p:nvSpPr>
        <p:spPr>
          <a:xfrm>
            <a:off x="6523892" y="4803132"/>
            <a:ext cx="5462954" cy="1833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–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altLang="en-US" sz="1600" dirty="0"/>
              <a:t>The seat labels are then used to obtain the accuracy</a:t>
            </a:r>
          </a:p>
          <a:p>
            <a:endParaRPr lang="en-US" altLang="en-US" sz="1600" dirty="0"/>
          </a:p>
          <a:p>
            <a:r>
              <a:rPr lang="en-IN" altLang="en-US" sz="1600" dirty="0"/>
              <a:t>Accuracy of KNN on test set = 0.98</a:t>
            </a:r>
            <a:endParaRPr lang="en-US" altLang="en-US" sz="16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F9AEE8A-C01F-4651-8497-2E89132AC0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2602008"/>
              </p:ext>
            </p:extLst>
          </p:nvPr>
        </p:nvGraphicFramePr>
        <p:xfrm>
          <a:off x="10559047" y="861803"/>
          <a:ext cx="897246" cy="3837114"/>
        </p:xfrm>
        <a:graphic>
          <a:graphicData uri="http://schemas.openxmlformats.org/drawingml/2006/table">
            <a:tbl>
              <a:tblPr/>
              <a:tblGrid>
                <a:gridCol w="448623">
                  <a:extLst>
                    <a:ext uri="{9D8B030D-6E8A-4147-A177-3AD203B41FA5}">
                      <a16:colId xmlns:a16="http://schemas.microsoft.com/office/drawing/2014/main" val="3572722810"/>
                    </a:ext>
                  </a:extLst>
                </a:gridCol>
                <a:gridCol w="448623">
                  <a:extLst>
                    <a:ext uri="{9D8B030D-6E8A-4147-A177-3AD203B41FA5}">
                      <a16:colId xmlns:a16="http://schemas.microsoft.com/office/drawing/2014/main" val="2526062257"/>
                    </a:ext>
                  </a:extLst>
                </a:gridCol>
              </a:tblGrid>
              <a:tr h="378162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Board/Asset</a:t>
                      </a:r>
                    </a:p>
                  </a:txBody>
                  <a:tcPr marL="9506" marR="9506" marT="95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Seat</a:t>
                      </a:r>
                    </a:p>
                  </a:txBody>
                  <a:tcPr marL="9506" marR="9506" marT="95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3924489"/>
                  </a:ext>
                </a:extLst>
              </a:tr>
              <a:tr h="19216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06" marR="9506" marT="95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1A</a:t>
                      </a:r>
                    </a:p>
                  </a:txBody>
                  <a:tcPr marL="9506" marR="9506" marT="95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0730980"/>
                  </a:ext>
                </a:extLst>
              </a:tr>
              <a:tr h="19216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06" marR="9506" marT="95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1B</a:t>
                      </a:r>
                    </a:p>
                  </a:txBody>
                  <a:tcPr marL="9506" marR="9506" marT="95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2901852"/>
                  </a:ext>
                </a:extLst>
              </a:tr>
              <a:tr h="19216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06" marR="9506" marT="95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1C</a:t>
                      </a:r>
                    </a:p>
                  </a:txBody>
                  <a:tcPr marL="9506" marR="9506" marT="95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0376258"/>
                  </a:ext>
                </a:extLst>
              </a:tr>
              <a:tr h="19216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06" marR="9506" marT="95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1D</a:t>
                      </a:r>
                    </a:p>
                  </a:txBody>
                  <a:tcPr marL="9506" marR="9506" marT="95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9897967"/>
                  </a:ext>
                </a:extLst>
              </a:tr>
              <a:tr h="19216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06" marR="9506" marT="95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1E</a:t>
                      </a:r>
                    </a:p>
                  </a:txBody>
                  <a:tcPr marL="9506" marR="9506" marT="95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551040"/>
                  </a:ext>
                </a:extLst>
              </a:tr>
              <a:tr h="19216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06" marR="9506" marT="95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1F</a:t>
                      </a:r>
                    </a:p>
                  </a:txBody>
                  <a:tcPr marL="9506" marR="9506" marT="95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3392686"/>
                  </a:ext>
                </a:extLst>
              </a:tr>
              <a:tr h="19216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06" marR="9506" marT="95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2A</a:t>
                      </a:r>
                    </a:p>
                  </a:txBody>
                  <a:tcPr marL="9506" marR="9506" marT="95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92463"/>
                  </a:ext>
                </a:extLst>
              </a:tr>
              <a:tr h="19216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06" marR="9506" marT="95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2B</a:t>
                      </a:r>
                    </a:p>
                  </a:txBody>
                  <a:tcPr marL="9506" marR="9506" marT="95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4740936"/>
                  </a:ext>
                </a:extLst>
              </a:tr>
              <a:tr h="19216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06" marR="9506" marT="95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2C</a:t>
                      </a:r>
                    </a:p>
                  </a:txBody>
                  <a:tcPr marL="9506" marR="9506" marT="95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180772"/>
                  </a:ext>
                </a:extLst>
              </a:tr>
              <a:tr h="19216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06" marR="9506" marT="95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2D</a:t>
                      </a:r>
                    </a:p>
                  </a:txBody>
                  <a:tcPr marL="9506" marR="9506" marT="95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6047729"/>
                  </a:ext>
                </a:extLst>
              </a:tr>
              <a:tr h="19216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9506" marR="9506" marT="95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2E</a:t>
                      </a:r>
                    </a:p>
                  </a:txBody>
                  <a:tcPr marL="9506" marR="9506" marT="95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9123005"/>
                  </a:ext>
                </a:extLst>
              </a:tr>
              <a:tr h="19216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06" marR="9506" marT="95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2F</a:t>
                      </a:r>
                    </a:p>
                  </a:txBody>
                  <a:tcPr marL="9506" marR="9506" marT="95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5138151"/>
                  </a:ext>
                </a:extLst>
              </a:tr>
              <a:tr h="19216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9506" marR="9506" marT="95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3A</a:t>
                      </a:r>
                    </a:p>
                  </a:txBody>
                  <a:tcPr marL="9506" marR="9506" marT="95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4803510"/>
                  </a:ext>
                </a:extLst>
              </a:tr>
              <a:tr h="19216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9506" marR="9506" marT="95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3B</a:t>
                      </a:r>
                    </a:p>
                  </a:txBody>
                  <a:tcPr marL="9506" marR="9506" marT="95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5742832"/>
                  </a:ext>
                </a:extLst>
              </a:tr>
              <a:tr h="19216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06" marR="9506" marT="95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3C</a:t>
                      </a:r>
                    </a:p>
                  </a:txBody>
                  <a:tcPr marL="9506" marR="9506" marT="95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4557130"/>
                  </a:ext>
                </a:extLst>
              </a:tr>
              <a:tr h="19216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9506" marR="9506" marT="95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3D</a:t>
                      </a:r>
                    </a:p>
                  </a:txBody>
                  <a:tcPr marL="9506" marR="9506" marT="95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2246071"/>
                  </a:ext>
                </a:extLst>
              </a:tr>
              <a:tr h="19216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06" marR="9506" marT="95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3E</a:t>
                      </a:r>
                    </a:p>
                  </a:txBody>
                  <a:tcPr marL="9506" marR="9506" marT="95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4177297"/>
                  </a:ext>
                </a:extLst>
              </a:tr>
              <a:tr h="19216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9506" marR="9506" marT="95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3F</a:t>
                      </a:r>
                    </a:p>
                  </a:txBody>
                  <a:tcPr marL="9506" marR="9506" marT="95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7407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2946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ANRC">
  <a:themeElements>
    <a:clrScheme name="4_ssd4mt04 1">
      <a:dk1>
        <a:srgbClr val="000000"/>
      </a:dk1>
      <a:lt1>
        <a:srgbClr val="FFFFFF"/>
      </a:lt1>
      <a:dk2>
        <a:srgbClr val="E0AA0F"/>
      </a:dk2>
      <a:lt2>
        <a:srgbClr val="A6A49E"/>
      </a:lt2>
      <a:accent1>
        <a:srgbClr val="A32638"/>
      </a:accent1>
      <a:accent2>
        <a:srgbClr val="0038A8"/>
      </a:accent2>
      <a:accent3>
        <a:srgbClr val="FFFFFF"/>
      </a:accent3>
      <a:accent4>
        <a:srgbClr val="000000"/>
      </a:accent4>
      <a:accent5>
        <a:srgbClr val="CEACAE"/>
      </a:accent5>
      <a:accent6>
        <a:srgbClr val="003298"/>
      </a:accent6>
      <a:hlink>
        <a:srgbClr val="3A75C4"/>
      </a:hlink>
      <a:folHlink>
        <a:srgbClr val="7F668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6326</TotalTime>
  <Words>621</Words>
  <Application>Microsoft Office PowerPoint</Application>
  <PresentationFormat>Custom</PresentationFormat>
  <Paragraphs>470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Times New Roman</vt:lpstr>
      <vt:lpstr>ANRC</vt:lpstr>
      <vt:lpstr>PowerPoint Presentation</vt:lpstr>
      <vt:lpstr>Results: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Acoustic Localization Content</dc:title>
  <dc:creator>Nithish K Gnani</dc:creator>
  <cp:lastModifiedBy>Nithish K Gnani</cp:lastModifiedBy>
  <cp:revision>538</cp:revision>
  <dcterms:modified xsi:type="dcterms:W3CDTF">2023-08-10T16:17:50Z</dcterms:modified>
</cp:coreProperties>
</file>