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2" r:id="rId4"/>
    <p:sldMasterId id="2147483689" r:id="rId5"/>
    <p:sldMasterId id="2147483710" r:id="rId6"/>
  </p:sldMasterIdLst>
  <p:notesMasterIdLst>
    <p:notesMasterId r:id="rId19"/>
  </p:notesMasterIdLst>
  <p:sldIdLst>
    <p:sldId id="768" r:id="rId7"/>
    <p:sldId id="788" r:id="rId8"/>
    <p:sldId id="277" r:id="rId9"/>
    <p:sldId id="282" r:id="rId10"/>
    <p:sldId id="787" r:id="rId11"/>
    <p:sldId id="735" r:id="rId12"/>
    <p:sldId id="736" r:id="rId13"/>
    <p:sldId id="794" r:id="rId14"/>
    <p:sldId id="798" r:id="rId15"/>
    <p:sldId id="799" r:id="rId16"/>
    <p:sldId id="779" r:id="rId17"/>
    <p:sldId id="793" r:id="rId18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3888">
          <p15:clr>
            <a:srgbClr val="A4A3A4"/>
          </p15:clr>
        </p15:guide>
        <p15:guide id="5" orient="horz" pos="3072">
          <p15:clr>
            <a:srgbClr val="A4A3A4"/>
          </p15:clr>
        </p15:guide>
        <p15:guide id="6" orient="horz" pos="432">
          <p15:clr>
            <a:srgbClr val="A4A3A4"/>
          </p15:clr>
        </p15:guide>
        <p15:guide id="7" orient="horz" pos="3648">
          <p15:clr>
            <a:srgbClr val="A4A3A4"/>
          </p15:clr>
        </p15:guide>
        <p15:guide id="8" pos="3839">
          <p15:clr>
            <a:srgbClr val="A4A3A4"/>
          </p15:clr>
        </p15:guide>
        <p15:guide id="9" pos="766">
          <p15:clr>
            <a:srgbClr val="A4A3A4"/>
          </p15:clr>
        </p15:guide>
        <p15:guide id="10" pos="6912">
          <p15:clr>
            <a:srgbClr val="A4A3A4"/>
          </p15:clr>
        </p15:guide>
        <p15:guide id="11" pos="5711">
          <p15:clr>
            <a:srgbClr val="A4A3A4"/>
          </p15:clr>
        </p15:guide>
        <p15:guide id="12" pos="7247">
          <p15:clr>
            <a:srgbClr val="A4A3A4"/>
          </p15:clr>
        </p15:guide>
        <p15:guide id="13" pos="3695">
          <p15:clr>
            <a:srgbClr val="A4A3A4"/>
          </p15:clr>
        </p15:guide>
        <p15:guide id="14" pos="431">
          <p15:clr>
            <a:srgbClr val="A4A3A4"/>
          </p15:clr>
        </p15:guide>
        <p15:guide id="15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60" roundtripDataSignature="AMtx7mh01mzmiWBJPJYasqPXZDYVndGX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E13C0F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B6349B-2BAB-4E06-ACBB-1BCCCFA45A62}">
  <a:tblStyle styleId="{79B6349B-2BAB-4E06-ACBB-1BCCCFA45A6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55" autoAdjust="0"/>
    <p:restoredTop sz="94243" autoAdjust="0"/>
  </p:normalViewPr>
  <p:slideViewPr>
    <p:cSldViewPr snapToGrid="0">
      <p:cViewPr varScale="1">
        <p:scale>
          <a:sx n="102" d="100"/>
          <a:sy n="102" d="100"/>
        </p:scale>
        <p:origin x="120" y="234"/>
      </p:cViewPr>
      <p:guideLst>
        <p:guide orient="horz" pos="2160"/>
        <p:guide orient="horz" pos="1008"/>
        <p:guide orient="horz" pos="1152"/>
        <p:guide orient="horz" pos="3888"/>
        <p:guide orient="horz" pos="3072"/>
        <p:guide orient="horz" pos="432"/>
        <p:guide orient="horz" pos="3648"/>
        <p:guide pos="3839"/>
        <p:guide pos="766"/>
        <p:guide pos="6912"/>
        <p:guide pos="5711"/>
        <p:guide pos="7247"/>
        <p:guide pos="3695"/>
        <p:guide pos="431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549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63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61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60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6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G:\IISC\VIDEO_CASTING\802.11ax\Book1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2206837184887078"/>
          <c:y val="4.2714259109814391E-2"/>
          <c:w val="0.65376622693546305"/>
          <c:h val="0.77259494692407971"/>
        </c:manualLayout>
      </c:layout>
      <c:lineChart>
        <c:grouping val="standard"/>
        <c:varyColors val="0"/>
        <c:ser>
          <c:idx val="0"/>
          <c:order val="0"/>
          <c:tx>
            <c:strRef>
              <c:f>Sheet3!$D$86</c:f>
              <c:strCache>
                <c:ptCount val="1"/>
                <c:pt idx="0">
                  <c:v>80 MHz</c:v>
                </c:pt>
              </c:strCache>
            </c:strRef>
          </c:tx>
          <c:marker>
            <c:symbol val="none"/>
          </c:marker>
          <c:val>
            <c:numRef>
              <c:f>Sheet3!$D$87:$D$100</c:f>
              <c:numCache>
                <c:formatCode>General</c:formatCode>
                <c:ptCount val="14"/>
                <c:pt idx="0">
                  <c:v>7.4468000000000006E-2</c:v>
                </c:pt>
                <c:pt idx="1">
                  <c:v>6.8840999999999999E-2</c:v>
                </c:pt>
                <c:pt idx="2">
                  <c:v>4.1353000000000001E-2</c:v>
                </c:pt>
                <c:pt idx="3">
                  <c:v>4.3306999999999998E-2</c:v>
                </c:pt>
                <c:pt idx="4">
                  <c:v>2.4389999999999998E-2</c:v>
                </c:pt>
                <c:pt idx="5">
                  <c:v>2.1739000000000001E-2</c:v>
                </c:pt>
                <c:pt idx="6">
                  <c:v>1.4286E-2</c:v>
                </c:pt>
                <c:pt idx="7">
                  <c:v>1.4851E-2</c:v>
                </c:pt>
                <c:pt idx="8">
                  <c:v>1.4851E-2</c:v>
                </c:pt>
                <c:pt idx="9">
                  <c:v>1.0101000000000001E-2</c:v>
                </c:pt>
                <c:pt idx="10">
                  <c:v>5.5249000000000001E-3</c:v>
                </c:pt>
                <c:pt idx="11">
                  <c:v>5.5249000000000001E-3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68-438B-A067-629342879B89}"/>
            </c:ext>
          </c:extLst>
        </c:ser>
        <c:ser>
          <c:idx val="1"/>
          <c:order val="1"/>
          <c:tx>
            <c:strRef>
              <c:f>Sheet3!$F$86</c:f>
              <c:strCache>
                <c:ptCount val="1"/>
                <c:pt idx="0">
                  <c:v>20 MHz</c:v>
                </c:pt>
              </c:strCache>
            </c:strRef>
          </c:tx>
          <c:marker>
            <c:symbol val="none"/>
          </c:marker>
          <c:val>
            <c:numRef>
              <c:f>Sheet3!$F$87:$F$100</c:f>
              <c:numCache>
                <c:formatCode>General</c:formatCode>
                <c:ptCount val="14"/>
                <c:pt idx="0">
                  <c:v>0.10357</c:v>
                </c:pt>
                <c:pt idx="1">
                  <c:v>9.7864999999999994E-2</c:v>
                </c:pt>
                <c:pt idx="2">
                  <c:v>6.5891000000000005E-2</c:v>
                </c:pt>
                <c:pt idx="3">
                  <c:v>5.5187E-2</c:v>
                </c:pt>
                <c:pt idx="4">
                  <c:v>4.2283000000000001E-2</c:v>
                </c:pt>
                <c:pt idx="5">
                  <c:v>1.9737000000000001E-2</c:v>
                </c:pt>
                <c:pt idx="6">
                  <c:v>1.8223E-2</c:v>
                </c:pt>
                <c:pt idx="7">
                  <c:v>1.8182E-2</c:v>
                </c:pt>
                <c:pt idx="8">
                  <c:v>1.5075E-2</c:v>
                </c:pt>
                <c:pt idx="9">
                  <c:v>1.0255999999999999E-2</c:v>
                </c:pt>
                <c:pt idx="10">
                  <c:v>8.0862999999999994E-3</c:v>
                </c:pt>
                <c:pt idx="11">
                  <c:v>7.1022000000000004E-3</c:v>
                </c:pt>
                <c:pt idx="12">
                  <c:v>5.6979999999999999E-3</c:v>
                </c:pt>
                <c:pt idx="13">
                  <c:v>6.0975999999999999E-3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68-438B-A067-629342879B89}"/>
            </c:ext>
          </c:extLst>
        </c:ser>
        <c:ser>
          <c:idx val="2"/>
          <c:order val="2"/>
          <c:tx>
            <c:strRef>
              <c:f>Sheet3!$E$86</c:f>
              <c:strCache>
                <c:ptCount val="1"/>
                <c:pt idx="0">
                  <c:v>40 MHz</c:v>
                </c:pt>
              </c:strCache>
            </c:strRef>
          </c:tx>
          <c:marker>
            <c:symbol val="none"/>
          </c:marker>
          <c:val>
            <c:numRef>
              <c:f>Sheet3!$E$87:$E$100</c:f>
              <c:numCache>
                <c:formatCode>General</c:formatCode>
                <c:ptCount val="14"/>
                <c:pt idx="0">
                  <c:v>9.375E-2</c:v>
                </c:pt>
                <c:pt idx="1">
                  <c:v>8.9108999999999994E-2</c:v>
                </c:pt>
                <c:pt idx="2">
                  <c:v>7.1429000000000006E-2</c:v>
                </c:pt>
                <c:pt idx="3">
                  <c:v>4.7619000000000002E-2</c:v>
                </c:pt>
                <c:pt idx="4">
                  <c:v>3.1496000000000003E-2</c:v>
                </c:pt>
                <c:pt idx="5">
                  <c:v>2.1645000000000001E-2</c:v>
                </c:pt>
                <c:pt idx="6">
                  <c:v>2.1833999999999999E-2</c:v>
                </c:pt>
                <c:pt idx="7">
                  <c:v>1.8100000000000002E-2</c:v>
                </c:pt>
                <c:pt idx="8">
                  <c:v>1.9231000000000002E-2</c:v>
                </c:pt>
                <c:pt idx="9">
                  <c:v>5.0505000000000003E-3</c:v>
                </c:pt>
                <c:pt idx="10">
                  <c:v>5.3191000000000002E-3</c:v>
                </c:pt>
                <c:pt idx="11">
                  <c:v>6.4102999999999999E-3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868-438B-A067-629342879B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08907680"/>
        <c:axId val="935046960"/>
      </c:lineChart>
      <c:catAx>
        <c:axId val="70890768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800"/>
                </a:pPr>
                <a:r>
                  <a:rPr lang="en-IN" sz="1800" dirty="0" err="1"/>
                  <a:t>TxPower</a:t>
                </a:r>
                <a:r>
                  <a:rPr lang="en-IN" sz="1800" dirty="0"/>
                  <a:t> (dBm)</a:t>
                </a:r>
              </a:p>
            </c:rich>
          </c:tx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935046960"/>
        <c:crosses val="autoZero"/>
        <c:auto val="1"/>
        <c:lblAlgn val="ctr"/>
        <c:lblOffset val="100"/>
        <c:noMultiLvlLbl val="0"/>
      </c:catAx>
      <c:valAx>
        <c:axId val="935046960"/>
        <c:scaling>
          <c:orientation val="minMax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1800"/>
                </a:pPr>
                <a:r>
                  <a:rPr lang="en-IN" sz="1800" dirty="0"/>
                  <a:t>Average </a:t>
                </a:r>
                <a:br>
                  <a:rPr lang="en-IN" sz="1800" dirty="0"/>
                </a:br>
                <a:r>
                  <a:rPr lang="en-IN" sz="1800" dirty="0"/>
                  <a:t>packet error </a:t>
                </a:r>
                <a:br>
                  <a:rPr lang="en-IN" sz="1800" dirty="0"/>
                </a:br>
                <a:r>
                  <a:rPr lang="en-IN" sz="1800" dirty="0"/>
                  <a:t>rate</a:t>
                </a:r>
              </a:p>
            </c:rich>
          </c:tx>
          <c:layout>
            <c:manualLayout>
              <c:xMode val="edge"/>
              <c:yMode val="edge"/>
              <c:x val="9.5282208814024411E-3"/>
              <c:y val="0.360927183561984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708907680"/>
        <c:crosses val="autoZero"/>
        <c:crossBetween val="between"/>
      </c:valAx>
      <c:spPr>
        <a:ln>
          <a:solidFill>
            <a:srgbClr val="000000"/>
          </a:solidFill>
        </a:ln>
      </c:spPr>
    </c:plotArea>
    <c:legend>
      <c:legendPos val="r"/>
      <c:layout>
        <c:manualLayout>
          <c:xMode val="edge"/>
          <c:yMode val="edge"/>
          <c:x val="0.86130776021326083"/>
          <c:y val="0.38527978148860886"/>
          <c:w val="0.1353609990079393"/>
          <c:h val="0.21682612204357812"/>
        </c:manualLayout>
      </c:layout>
      <c:overlay val="0"/>
      <c:txPr>
        <a:bodyPr/>
        <a:lstStyle/>
        <a:p>
          <a:pPr>
            <a:defRPr sz="1400" b="1"/>
          </a:pPr>
          <a:endParaRPr lang="en-US"/>
        </a:p>
      </c:txPr>
    </c:legend>
    <c:plotVisOnly val="1"/>
    <c:dispBlanksAs val="gap"/>
    <c:showDLblsOverMax val="0"/>
  </c:chart>
  <c:spPr>
    <a:ln>
      <a:solidFill>
        <a:srgbClr val="A32638"/>
      </a:solidFill>
    </a:ln>
  </c:spPr>
  <c:txPr>
    <a:bodyPr/>
    <a:lstStyle/>
    <a:p>
      <a:pPr>
        <a:defRPr sz="1400"/>
      </a:pPr>
      <a:endParaRPr lang="en-US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662977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075" y="812800"/>
            <a:ext cx="7119938" cy="4006850"/>
          </a:xfrm>
          <a:prstGeom prst="rect">
            <a:avLst/>
          </a:prstGeom>
        </p:spPr>
      </p:sp>
      <p:sp>
        <p:nvSpPr>
          <p:cNvPr id="8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868" name="CustomShape 3"/>
          <p:cNvSpPr/>
          <p:nvPr/>
        </p:nvSpPr>
        <p:spPr>
          <a:xfrm>
            <a:off x="4278960" y="10157400"/>
            <a:ext cx="3279240" cy="532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 algn="r">
              <a:lnSpc>
                <a:spcPct val="100000"/>
              </a:lnSpc>
            </a:pPr>
            <a:fld id="{45D5CEE4-F7A7-4EE1-A0C6-08B0EB05C123}" type="slidenum">
              <a:rPr lang="en-IN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3</a:t>
            </a:fld>
            <a:endParaRPr lang="en-IN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533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Who changes</a:t>
            </a:r>
            <a:r>
              <a:rPr lang="en-IN" baseline="0" dirty="0"/>
              <a:t> </a:t>
            </a:r>
            <a:r>
              <a:rPr lang="en-IN" baseline="0" dirty="0" err="1"/>
              <a:t>cBW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2680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76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25EA-723C-4E1E-8807-AC227A6E8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12" y="1163642"/>
            <a:ext cx="9140825" cy="165575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rgbClr val="002060"/>
                </a:solidFill>
                <a:effectLst>
                  <a:outerShdw blurRad="38100" dist="25400" dir="5400000" algn="ctr" rotWithShape="0">
                    <a:schemeClr val="tx1">
                      <a:alpha val="82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D3F85-4CD5-4D8E-9E05-B2F7013E0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082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9C7F3-4484-4400-994F-A82BE2D7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F6F8-B21E-4E8F-8B56-09B9E3BF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3B16-2BF3-40A3-AA5C-6348C1F2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86601DB7-036D-4635-828B-2C0C89E49BE2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16905" y="2895604"/>
            <a:ext cx="9143999" cy="1"/>
          </a:xfrm>
          <a:prstGeom prst="line">
            <a:avLst/>
          </a:prstGeom>
          <a:noFill/>
          <a:ln w="25400" cap="flat" cmpd="sng" algn="ctr">
            <a:solidFill>
              <a:srgbClr val="A32638">
                <a:lumMod val="7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buFontTx/>
              <a:buNone/>
              <a:defRPr/>
            </a:pPr>
            <a:endParaRPr lang="en-US" sz="1800" b="1" dirty="0">
              <a:ln w="22225">
                <a:solidFill>
                  <a:srgbClr val="0038A8"/>
                </a:solidFill>
                <a:prstDash val="solid"/>
              </a:ln>
              <a:solidFill>
                <a:srgbClr val="0038A8">
                  <a:lumMod val="40000"/>
                  <a:lumOff val="60000"/>
                </a:srgbClr>
              </a:solidFill>
              <a:ea typeface="+mn-ea"/>
              <a:cs typeface="+mn-cs"/>
            </a:endParaRP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8C11303C-4E49-43C6-AE6B-F86CF56A453B}"/>
              </a:ext>
            </a:extLst>
          </p:cNvPr>
          <p:cNvSpPr/>
          <p:nvPr userDrawn="1"/>
        </p:nvSpPr>
        <p:spPr>
          <a:xfrm>
            <a:off x="3198812" y="6248400"/>
            <a:ext cx="5065774" cy="531676"/>
          </a:xfrm>
          <a:prstGeom prst="roundRect">
            <a:avLst/>
          </a:prstGeom>
          <a:solidFill>
            <a:srgbClr val="97BA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06683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FontTx/>
              <a:buNone/>
            </a:pPr>
            <a:r>
              <a:rPr lang="en-US" sz="2000" kern="1200" dirty="0">
                <a:ln w="0"/>
                <a:solidFill>
                  <a:prstClr val="black"/>
                </a:solidFill>
              </a:rPr>
              <a:t>ANRC</a:t>
            </a:r>
          </a:p>
        </p:txBody>
      </p:sp>
    </p:spTree>
    <p:extLst>
      <p:ext uri="{BB962C8B-B14F-4D97-AF65-F5344CB8AC3E}">
        <p14:creationId xmlns:p14="http://schemas.microsoft.com/office/powerpoint/2010/main" val="1280383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14C6-5DAA-42F6-AD43-299E9C0B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DEBF-37EB-424D-AD47-A2C920BF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BFF14-AFF4-4CEB-828B-6A5CE9027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6ADD2-B06C-4BD8-8D4C-52D85FC5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47BAA9-B429-45AA-BEFA-E9FAC25E6B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990600"/>
            <a:ext cx="10896599" cy="5334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119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25EA-723C-4E1E-8807-AC227A6E8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0825" cy="1655758"/>
          </a:xfrm>
        </p:spPr>
        <p:txBody>
          <a:bodyPr vert="horz" lIns="360000" tIns="45720" rIns="180000" bIns="45720" rtlCol="0" anchor="b">
            <a:normAutofit/>
          </a:bodyPr>
          <a:lstStyle>
            <a:lvl1pPr>
              <a:defRPr lang="en-IN" sz="4000" dirty="0">
                <a:solidFill>
                  <a:srgbClr val="002060"/>
                </a:solidFill>
                <a:effectLst>
                  <a:outerShdw blurRad="38100" dist="25400" dir="5400000" algn="ctr" rotWithShape="0">
                    <a:schemeClr val="tx1">
                      <a:alpha val="82000"/>
                    </a:schemeClr>
                  </a:outerShdw>
                </a:effectLst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D3F85-4CD5-4D8E-9E05-B2F7013E0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082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9C7F3-4484-4400-994F-A82BE2D7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F6F8-B21E-4E8F-8B56-09B9E3BF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3B16-2BF3-40A3-AA5C-6348C1F2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86601DB7-036D-4635-828B-2C0C89E49BE2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16905" y="2895604"/>
            <a:ext cx="9143999" cy="1"/>
          </a:xfrm>
          <a:prstGeom prst="line">
            <a:avLst/>
          </a:prstGeom>
          <a:noFill/>
          <a:ln w="25400" cap="flat" cmpd="sng" algn="ctr">
            <a:solidFill>
              <a:srgbClr val="A32638">
                <a:lumMod val="7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buFontTx/>
              <a:buNone/>
              <a:defRPr/>
            </a:pPr>
            <a:endParaRPr lang="en-US" sz="1800" b="1" dirty="0">
              <a:ln w="22225">
                <a:solidFill>
                  <a:srgbClr val="0038A8"/>
                </a:solidFill>
                <a:prstDash val="solid"/>
              </a:ln>
              <a:solidFill>
                <a:srgbClr val="0038A8">
                  <a:lumMod val="40000"/>
                  <a:lumOff val="60000"/>
                </a:srgb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7689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B6F2-3B16-4E19-AE5F-555EF21D5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B03914-1CE0-4C1E-AE5E-1FFC727E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A3A56B-4DA8-49D7-BB0E-4326B995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852AB-9730-4D89-8185-80902053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26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BA5CA-A3F2-4E99-B12A-94F79ED7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194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1_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>
            <a:spLocks noGrp="1"/>
          </p:cNvSpPr>
          <p:nvPr>
            <p:ph type="title"/>
          </p:nvPr>
        </p:nvSpPr>
        <p:spPr>
          <a:xfrm>
            <a:off x="0" y="193331"/>
            <a:ext cx="12188825" cy="56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body" idx="1"/>
          </p:nvPr>
        </p:nvSpPr>
        <p:spPr>
          <a:xfrm>
            <a:off x="0" y="1169988"/>
            <a:ext cx="12188825" cy="256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–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0" y="6381750"/>
            <a:ext cx="480993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335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145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25EA-723C-4E1E-8807-AC227A6E8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12" y="1163642"/>
            <a:ext cx="9140825" cy="1655758"/>
          </a:xfrm>
        </p:spPr>
        <p:txBody>
          <a:bodyPr anchor="b">
            <a:normAutofit/>
          </a:bodyPr>
          <a:lstStyle>
            <a:lvl1pPr algn="ctr">
              <a:defRPr sz="4800" b="0">
                <a:solidFill>
                  <a:srgbClr val="002060"/>
                </a:solidFill>
                <a:effectLst>
                  <a:outerShdw blurRad="38100" dist="25400" dir="5400000" algn="ctr" rotWithShape="0">
                    <a:schemeClr val="tx1">
                      <a:alpha val="82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D3F85-4CD5-4D8E-9E05-B2F7013E0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082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9C7F3-4484-4400-994F-A82BE2D7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F6F8-B21E-4E8F-8B56-09B9E3BF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3B16-2BF3-40A3-AA5C-6348C1F2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86601DB7-036D-4635-828B-2C0C89E49BE2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16905" y="2895604"/>
            <a:ext cx="9143999" cy="1"/>
          </a:xfrm>
          <a:prstGeom prst="line">
            <a:avLst/>
          </a:prstGeom>
          <a:noFill/>
          <a:ln w="25400" cap="flat" cmpd="sng" algn="ctr">
            <a:solidFill>
              <a:srgbClr val="A32638">
                <a:lumMod val="7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buFontTx/>
              <a:buNone/>
              <a:defRPr/>
            </a:pPr>
            <a:endParaRPr lang="en-US" sz="1800" b="1" dirty="0">
              <a:ln w="22225">
                <a:solidFill>
                  <a:srgbClr val="0038A8"/>
                </a:solidFill>
                <a:prstDash val="solid"/>
              </a:ln>
              <a:solidFill>
                <a:srgbClr val="0038A8">
                  <a:lumMod val="40000"/>
                  <a:lumOff val="60000"/>
                </a:srgbClr>
              </a:solidFill>
              <a:ea typeface="+mn-ea"/>
              <a:cs typeface="+mn-cs"/>
            </a:endParaRP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8C11303C-4E49-43C6-AE6B-F86CF56A453B}"/>
              </a:ext>
            </a:extLst>
          </p:cNvPr>
          <p:cNvSpPr/>
          <p:nvPr userDrawn="1"/>
        </p:nvSpPr>
        <p:spPr>
          <a:xfrm>
            <a:off x="3198812" y="6248400"/>
            <a:ext cx="5065774" cy="531676"/>
          </a:xfrm>
          <a:prstGeom prst="roundRect">
            <a:avLst/>
          </a:prstGeom>
          <a:solidFill>
            <a:srgbClr val="97BA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06683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FontTx/>
              <a:buNone/>
            </a:pPr>
            <a:r>
              <a:rPr lang="en-US" sz="2000" kern="1200" dirty="0">
                <a:ln w="0"/>
                <a:solidFill>
                  <a:prstClr val="black"/>
                </a:solidFill>
              </a:rPr>
              <a:t>ANRC</a:t>
            </a:r>
          </a:p>
        </p:txBody>
      </p:sp>
    </p:spTree>
    <p:extLst>
      <p:ext uri="{BB962C8B-B14F-4D97-AF65-F5344CB8AC3E}">
        <p14:creationId xmlns:p14="http://schemas.microsoft.com/office/powerpoint/2010/main" val="101749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14C6-5DAA-42F6-AD43-299E9C0B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DEBF-37EB-424D-AD47-A2C920BF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BFF14-AFF4-4CEB-828B-6A5CE9027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6ADD2-B06C-4BD8-8D4C-52D85FC5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47BAA9-B429-45AA-BEFA-E9FAC25E6B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990600"/>
            <a:ext cx="10896599" cy="5334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12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25EA-723C-4E1E-8807-AC227A6E8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0825" cy="1655758"/>
          </a:xfrm>
        </p:spPr>
        <p:txBody>
          <a:bodyPr vert="horz" lIns="360000" tIns="45720" rIns="180000" bIns="45720" rtlCol="0" anchor="b">
            <a:normAutofit/>
          </a:bodyPr>
          <a:lstStyle>
            <a:lvl1pPr>
              <a:defRPr lang="en-IN" sz="4000" b="0" dirty="0">
                <a:solidFill>
                  <a:srgbClr val="002060"/>
                </a:solidFill>
                <a:effectLst>
                  <a:outerShdw blurRad="38100" dist="25400" dir="5400000" algn="ctr" rotWithShape="0">
                    <a:schemeClr val="tx1">
                      <a:alpha val="82000"/>
                    </a:schemeClr>
                  </a:outerShdw>
                </a:effectLst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D3F85-4CD5-4D8E-9E05-B2F7013E0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082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9C7F3-4484-4400-994F-A82BE2D7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F6F8-B21E-4E8F-8B56-09B9E3BF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3B16-2BF3-40A3-AA5C-6348C1F2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86601DB7-036D-4635-828B-2C0C89E49BE2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16905" y="2895604"/>
            <a:ext cx="9143999" cy="1"/>
          </a:xfrm>
          <a:prstGeom prst="line">
            <a:avLst/>
          </a:prstGeom>
          <a:noFill/>
          <a:ln w="25400" cap="flat" cmpd="sng" algn="ctr">
            <a:solidFill>
              <a:srgbClr val="A32638">
                <a:lumMod val="7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buFontTx/>
              <a:buNone/>
              <a:defRPr/>
            </a:pPr>
            <a:endParaRPr lang="en-US" sz="1800" b="1" dirty="0">
              <a:ln w="22225">
                <a:solidFill>
                  <a:srgbClr val="0038A8"/>
                </a:solidFill>
                <a:prstDash val="solid"/>
              </a:ln>
              <a:solidFill>
                <a:srgbClr val="0038A8">
                  <a:lumMod val="40000"/>
                  <a:lumOff val="60000"/>
                </a:srgb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8334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B6F2-3B16-4E19-AE5F-555EF21D5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B03914-1CE0-4C1E-AE5E-1FFC727E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A3A56B-4DA8-49D7-BB0E-4326B995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852AB-9730-4D89-8185-80902053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360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BA5CA-A3F2-4E99-B12A-94F79ED7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134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25EA-723C-4E1E-8807-AC227A6E8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12" y="1163642"/>
            <a:ext cx="9140825" cy="1655758"/>
          </a:xfrm>
        </p:spPr>
        <p:txBody>
          <a:bodyPr anchor="b">
            <a:normAutofit/>
          </a:bodyPr>
          <a:lstStyle>
            <a:lvl1pPr algn="ctr">
              <a:defRPr sz="4800" b="0">
                <a:solidFill>
                  <a:srgbClr val="002060"/>
                </a:solidFill>
                <a:effectLst>
                  <a:outerShdw blurRad="38100" dist="25400" dir="5400000" algn="ctr" rotWithShape="0">
                    <a:schemeClr val="tx1">
                      <a:alpha val="82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D3F85-4CD5-4D8E-9E05-B2F7013E0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082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9C7F3-4484-4400-994F-A82BE2D7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F6F8-B21E-4E8F-8B56-09B9E3BF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3B16-2BF3-40A3-AA5C-6348C1F2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86601DB7-036D-4635-828B-2C0C89E49BE2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16905" y="2895604"/>
            <a:ext cx="9143999" cy="1"/>
          </a:xfrm>
          <a:prstGeom prst="line">
            <a:avLst/>
          </a:prstGeom>
          <a:noFill/>
          <a:ln w="25400" cap="flat" cmpd="sng" algn="ctr">
            <a:solidFill>
              <a:srgbClr val="A32638">
                <a:lumMod val="7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buFontTx/>
              <a:buNone/>
              <a:defRPr/>
            </a:pPr>
            <a:endParaRPr lang="en-US" sz="1800" b="1" dirty="0">
              <a:ln w="22225">
                <a:solidFill>
                  <a:srgbClr val="0038A8"/>
                </a:solidFill>
                <a:prstDash val="solid"/>
              </a:ln>
              <a:solidFill>
                <a:srgbClr val="0038A8">
                  <a:lumMod val="40000"/>
                  <a:lumOff val="60000"/>
                </a:srgbClr>
              </a:solidFill>
              <a:ea typeface="+mn-ea"/>
            </a:endParaRP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8C11303C-4E49-43C6-AE6B-F86CF56A453B}"/>
              </a:ext>
            </a:extLst>
          </p:cNvPr>
          <p:cNvSpPr/>
          <p:nvPr userDrawn="1"/>
        </p:nvSpPr>
        <p:spPr>
          <a:xfrm>
            <a:off x="3198812" y="6248400"/>
            <a:ext cx="5065774" cy="531676"/>
          </a:xfrm>
          <a:prstGeom prst="roundRect">
            <a:avLst/>
          </a:prstGeom>
          <a:solidFill>
            <a:srgbClr val="97BA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06683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FontTx/>
              <a:buNone/>
            </a:pPr>
            <a:r>
              <a:rPr lang="en-US" sz="2000" kern="1200" dirty="0">
                <a:ln w="0"/>
                <a:solidFill>
                  <a:prstClr val="black"/>
                </a:solidFill>
              </a:rPr>
              <a:t>ANRC</a:t>
            </a:r>
          </a:p>
        </p:txBody>
      </p:sp>
    </p:spTree>
    <p:extLst>
      <p:ext uri="{BB962C8B-B14F-4D97-AF65-F5344CB8AC3E}">
        <p14:creationId xmlns:p14="http://schemas.microsoft.com/office/powerpoint/2010/main" val="3059889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14C6-5DAA-42F6-AD43-299E9C0B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DEBF-37EB-424D-AD47-A2C920BF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BFF14-AFF4-4CEB-828B-6A5CE9027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6ADD2-B06C-4BD8-8D4C-52D85FC5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47BAA9-B429-45AA-BEFA-E9FAC25E6B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990600"/>
            <a:ext cx="10896599" cy="5334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8238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25EA-723C-4E1E-8807-AC227A6E8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0825" cy="1655758"/>
          </a:xfrm>
        </p:spPr>
        <p:txBody>
          <a:bodyPr vert="horz" lIns="360000" tIns="45720" rIns="180000" bIns="45720" rtlCol="0" anchor="b">
            <a:normAutofit/>
          </a:bodyPr>
          <a:lstStyle>
            <a:lvl1pPr>
              <a:defRPr lang="en-IN" sz="4000" dirty="0">
                <a:solidFill>
                  <a:srgbClr val="002060"/>
                </a:solidFill>
                <a:effectLst>
                  <a:outerShdw blurRad="38100" dist="25400" dir="5400000" algn="ctr" rotWithShape="0">
                    <a:schemeClr val="tx1">
                      <a:alpha val="82000"/>
                    </a:schemeClr>
                  </a:outerShdw>
                </a:effectLst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D3F85-4CD5-4D8E-9E05-B2F7013E0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082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9C7F3-4484-4400-994F-A82BE2D7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F6F8-B21E-4E8F-8B56-09B9E3BF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3B16-2BF3-40A3-AA5C-6348C1F2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86601DB7-036D-4635-828B-2C0C89E49BE2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16905" y="2895604"/>
            <a:ext cx="9143999" cy="1"/>
          </a:xfrm>
          <a:prstGeom prst="line">
            <a:avLst/>
          </a:prstGeom>
          <a:noFill/>
          <a:ln w="25400" cap="flat" cmpd="sng" algn="ctr">
            <a:solidFill>
              <a:srgbClr val="A32638">
                <a:lumMod val="7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buFontTx/>
              <a:buNone/>
              <a:defRPr/>
            </a:pPr>
            <a:endParaRPr lang="en-US" sz="1800" b="1" dirty="0">
              <a:ln w="22225">
                <a:solidFill>
                  <a:srgbClr val="0038A8"/>
                </a:solidFill>
                <a:prstDash val="solid"/>
              </a:ln>
              <a:solidFill>
                <a:srgbClr val="0038A8">
                  <a:lumMod val="40000"/>
                  <a:lumOff val="60000"/>
                </a:srgb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3435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B6F2-3B16-4E19-AE5F-555EF21D5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B03914-1CE0-4C1E-AE5E-1FFC727E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15-08-2023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A3A56B-4DA8-49D7-BB0E-4326B995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852AB-9730-4D89-8185-80902053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278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BA5CA-A3F2-4E99-B12A-94F79ED7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336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">
            <a:extLst>
              <a:ext uri="{FF2B5EF4-FFF2-40B4-BE49-F238E27FC236}">
                <a16:creationId xmlns:a16="http://schemas.microsoft.com/office/drawing/2014/main" id="{E8B9A9C2-551F-4DD6-803A-A65A0BDF3E92}"/>
              </a:ext>
            </a:extLst>
          </p:cNvPr>
          <p:cNvSpPr/>
          <p:nvPr userDrawn="1"/>
        </p:nvSpPr>
        <p:spPr>
          <a:xfrm>
            <a:off x="0" y="0"/>
            <a:ext cx="12188825" cy="681037"/>
          </a:xfrm>
          <a:prstGeom prst="rect">
            <a:avLst/>
          </a:prstGeom>
          <a:solidFill>
            <a:srgbClr val="C5D8FF"/>
          </a:solidFill>
          <a:ln>
            <a:noFill/>
          </a:ln>
        </p:spPr>
        <p:txBody>
          <a:bodyPr wrap="square" lIns="68569" tIns="34275" rIns="68569" bIns="34275" anchor="ctr" anchorCtr="0">
            <a:noAutofit/>
          </a:bodyPr>
          <a:lstStyle/>
          <a:p>
            <a:pPr>
              <a:buClrTx/>
              <a:buFontTx/>
              <a:buNone/>
            </a:pPr>
            <a:endParaRPr sz="135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Shape 19" descr="anrc3">
            <a:extLst>
              <a:ext uri="{FF2B5EF4-FFF2-40B4-BE49-F238E27FC236}">
                <a16:creationId xmlns:a16="http://schemas.microsoft.com/office/drawing/2014/main" id="{CA2BF252-EF13-443A-9DD9-C38C15F27D3C}"/>
              </a:ext>
            </a:extLst>
          </p:cNvPr>
          <p:cNvPicPr preferRelativeResize="0"/>
          <p:nvPr userDrawn="1"/>
        </p:nvPicPr>
        <p:blipFill rotWithShape="1">
          <a:blip r:embed="rId9" cstate="print">
            <a:alphaModFix/>
          </a:blip>
          <a:srcRect/>
          <a:stretch/>
        </p:blipFill>
        <p:spPr>
          <a:xfrm>
            <a:off x="11581329" y="76200"/>
            <a:ext cx="532883" cy="5333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BC294-8672-422E-BD2C-7ABBBA1A4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1"/>
            <a:ext cx="11278117" cy="681036"/>
          </a:xfrm>
          <a:prstGeom prst="rect">
            <a:avLst/>
          </a:prstGeom>
        </p:spPr>
        <p:txBody>
          <a:bodyPr vert="horz" lIns="216000" tIns="45720" rIns="18000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919EA-F0F4-4756-85C2-2E918616E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612" y="990600"/>
            <a:ext cx="10895013" cy="51863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9B0CE-A2DD-4BC6-915F-CA99B292E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1588" y="6492875"/>
            <a:ext cx="27416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ClrTx/>
              <a:buFontTx/>
              <a:buNone/>
            </a:pPr>
            <a:fld id="{3DA65A8D-5760-4AA7-8662-C2150FF7F1A2}" type="datetimeFigureOut">
              <a:rPr lang="en-IN" kern="1200" smtClean="0">
                <a:solidFill>
                  <a:prstClr val="black">
                    <a:tint val="75000"/>
                  </a:prstClr>
                </a:solidFill>
                <a:ea typeface="+mn-ea"/>
              </a:rPr>
              <a:pPr>
                <a:buClrTx/>
                <a:buFontTx/>
                <a:buNone/>
              </a:pPr>
              <a:t>15-08-2023</a:t>
            </a:fld>
            <a:endParaRPr lang="en-IN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CDB6E-9C02-405F-933B-DB8280245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013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ClrTx/>
              <a:buFontTx/>
              <a:buNone/>
            </a:pPr>
            <a:endParaRPr lang="en-IN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39DF0-7CED-4B0E-8C48-E2110AD6B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ClrTx/>
              <a:buFontTx/>
              <a:buNone/>
            </a:pPr>
            <a:fld id="{EC6BA641-E041-4D0A-86E5-8BD4ED739D99}" type="slidenum">
              <a:rPr lang="en-IN" kern="1200" smtClean="0">
                <a:solidFill>
                  <a:prstClr val="black">
                    <a:tint val="75000"/>
                  </a:prstClr>
                </a:solidFill>
                <a:ea typeface="+mn-ea"/>
              </a:rPr>
              <a:pPr>
                <a:buClrTx/>
                <a:buFontTx/>
                <a:buNone/>
              </a:pPr>
              <a:t>‹#›</a:t>
            </a:fld>
            <a:endParaRPr lang="en-IN" kern="1200" dirty="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64265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716" r:id="rId6"/>
    <p:sldLayoutId id="214748371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">
            <a:extLst>
              <a:ext uri="{FF2B5EF4-FFF2-40B4-BE49-F238E27FC236}">
                <a16:creationId xmlns:a16="http://schemas.microsoft.com/office/drawing/2014/main" id="{E8B9A9C2-551F-4DD6-803A-A65A0BDF3E92}"/>
              </a:ext>
            </a:extLst>
          </p:cNvPr>
          <p:cNvSpPr/>
          <p:nvPr userDrawn="1"/>
        </p:nvSpPr>
        <p:spPr>
          <a:xfrm>
            <a:off x="0" y="0"/>
            <a:ext cx="12188825" cy="681037"/>
          </a:xfrm>
          <a:prstGeom prst="rect">
            <a:avLst/>
          </a:prstGeom>
          <a:solidFill>
            <a:srgbClr val="C5D8FF"/>
          </a:solidFill>
          <a:ln>
            <a:noFill/>
          </a:ln>
        </p:spPr>
        <p:txBody>
          <a:bodyPr wrap="square" lIns="68569" tIns="34275" rIns="68569" bIns="34275" anchor="ctr" anchorCtr="0">
            <a:noAutofit/>
          </a:bodyPr>
          <a:lstStyle/>
          <a:p>
            <a:pPr>
              <a:buClrTx/>
              <a:buFontTx/>
              <a:buNone/>
            </a:pPr>
            <a:endParaRPr sz="135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Shape 19" descr="anrc3">
            <a:extLst>
              <a:ext uri="{FF2B5EF4-FFF2-40B4-BE49-F238E27FC236}">
                <a16:creationId xmlns:a16="http://schemas.microsoft.com/office/drawing/2014/main" id="{CA2BF252-EF13-443A-9DD9-C38C15F27D3C}"/>
              </a:ext>
            </a:extLst>
          </p:cNvPr>
          <p:cNvPicPr preferRelativeResize="0"/>
          <p:nvPr userDrawn="1"/>
        </p:nvPicPr>
        <p:blipFill rotWithShape="1">
          <a:blip r:embed="rId7" cstate="print">
            <a:alphaModFix/>
          </a:blip>
          <a:srcRect/>
          <a:stretch/>
        </p:blipFill>
        <p:spPr>
          <a:xfrm>
            <a:off x="11581329" y="76200"/>
            <a:ext cx="532883" cy="5333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BC294-8672-422E-BD2C-7ABBBA1A4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1"/>
            <a:ext cx="11278117" cy="681036"/>
          </a:xfrm>
          <a:prstGeom prst="rect">
            <a:avLst/>
          </a:prstGeom>
        </p:spPr>
        <p:txBody>
          <a:bodyPr vert="horz" lIns="216000" tIns="45720" rIns="18000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919EA-F0F4-4756-85C2-2E918616E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612" y="990600"/>
            <a:ext cx="10895013" cy="51863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9B0CE-A2DD-4BC6-915F-CA99B292E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1588" y="6492875"/>
            <a:ext cx="27416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ClrTx/>
              <a:buFontTx/>
              <a:buNone/>
            </a:pPr>
            <a:fld id="{3DA65A8D-5760-4AA7-8662-C2150FF7F1A2}" type="datetimeFigureOut">
              <a:rPr lang="en-IN" kern="1200" smtClean="0">
                <a:solidFill>
                  <a:prstClr val="black">
                    <a:tint val="75000"/>
                  </a:prstClr>
                </a:solidFill>
                <a:ea typeface="+mn-ea"/>
              </a:rPr>
              <a:pPr>
                <a:buClrTx/>
                <a:buFontTx/>
                <a:buNone/>
              </a:pPr>
              <a:t>15-08-2023</a:t>
            </a:fld>
            <a:endParaRPr lang="en-IN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CDB6E-9C02-405F-933B-DB8280245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013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ClrTx/>
              <a:buFontTx/>
              <a:buNone/>
            </a:pPr>
            <a:endParaRPr lang="en-IN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39DF0-7CED-4B0E-8C48-E2110AD6B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ClrTx/>
              <a:buFontTx/>
              <a:buNone/>
            </a:pPr>
            <a:fld id="{EC6BA641-E041-4D0A-86E5-8BD4ED739D99}" type="slidenum">
              <a:rPr lang="en-IN" kern="1200" smtClean="0">
                <a:solidFill>
                  <a:prstClr val="black">
                    <a:tint val="75000"/>
                  </a:prstClr>
                </a:solidFill>
                <a:ea typeface="+mn-ea"/>
              </a:rPr>
              <a:pPr>
                <a:buClrTx/>
                <a:buFontTx/>
                <a:buNone/>
              </a:pPr>
              <a:t>‹#›</a:t>
            </a:fld>
            <a:endParaRPr lang="en-IN" kern="1200" dirty="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4155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">
            <a:extLst>
              <a:ext uri="{FF2B5EF4-FFF2-40B4-BE49-F238E27FC236}">
                <a16:creationId xmlns:a16="http://schemas.microsoft.com/office/drawing/2014/main" id="{E8B9A9C2-551F-4DD6-803A-A65A0BDF3E92}"/>
              </a:ext>
            </a:extLst>
          </p:cNvPr>
          <p:cNvSpPr/>
          <p:nvPr userDrawn="1"/>
        </p:nvSpPr>
        <p:spPr>
          <a:xfrm>
            <a:off x="0" y="0"/>
            <a:ext cx="12188825" cy="681037"/>
          </a:xfrm>
          <a:prstGeom prst="rect">
            <a:avLst/>
          </a:prstGeom>
          <a:solidFill>
            <a:srgbClr val="C5D8FF"/>
          </a:solidFill>
          <a:ln>
            <a:noFill/>
          </a:ln>
        </p:spPr>
        <p:txBody>
          <a:bodyPr wrap="square" lIns="68569" tIns="34275" rIns="68569" bIns="34275" anchor="ctr" anchorCtr="0">
            <a:noAutofit/>
          </a:bodyPr>
          <a:lstStyle/>
          <a:p>
            <a:pPr>
              <a:buClrTx/>
              <a:buFontTx/>
              <a:buNone/>
            </a:pPr>
            <a:endParaRPr sz="135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Shape 19" descr="anrc3">
            <a:extLst>
              <a:ext uri="{FF2B5EF4-FFF2-40B4-BE49-F238E27FC236}">
                <a16:creationId xmlns:a16="http://schemas.microsoft.com/office/drawing/2014/main" id="{CA2BF252-EF13-443A-9DD9-C38C15F27D3C}"/>
              </a:ext>
            </a:extLst>
          </p:cNvPr>
          <p:cNvPicPr preferRelativeResize="0"/>
          <p:nvPr userDrawn="1"/>
        </p:nvPicPr>
        <p:blipFill rotWithShape="1">
          <a:blip r:embed="rId7" cstate="print">
            <a:alphaModFix/>
          </a:blip>
          <a:srcRect/>
          <a:stretch/>
        </p:blipFill>
        <p:spPr>
          <a:xfrm>
            <a:off x="11581329" y="76200"/>
            <a:ext cx="532883" cy="5333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BC294-8672-422E-BD2C-7ABBBA1A4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1"/>
            <a:ext cx="11278117" cy="681036"/>
          </a:xfrm>
          <a:prstGeom prst="rect">
            <a:avLst/>
          </a:prstGeom>
        </p:spPr>
        <p:txBody>
          <a:bodyPr vert="horz" lIns="216000" tIns="45720" rIns="18000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919EA-F0F4-4756-85C2-2E918616E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612" y="990600"/>
            <a:ext cx="10895013" cy="51863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9B0CE-A2DD-4BC6-915F-CA99B292E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1588" y="6492875"/>
            <a:ext cx="27416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ClrTx/>
              <a:buFontTx/>
              <a:buNone/>
            </a:pPr>
            <a:fld id="{3DA65A8D-5760-4AA7-8662-C2150FF7F1A2}" type="datetimeFigureOut">
              <a:rPr lang="en-IN" kern="1200" smtClean="0">
                <a:solidFill>
                  <a:prstClr val="black">
                    <a:tint val="75000"/>
                  </a:prstClr>
                </a:solidFill>
                <a:ea typeface="+mn-ea"/>
              </a:rPr>
              <a:pPr>
                <a:buClrTx/>
                <a:buFontTx/>
                <a:buNone/>
              </a:pPr>
              <a:t>15-08-2023</a:t>
            </a:fld>
            <a:endParaRPr lang="en-IN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CDB6E-9C02-405F-933B-DB8280245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013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ClrTx/>
              <a:buFontTx/>
              <a:buNone/>
            </a:pPr>
            <a:endParaRPr lang="en-IN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39DF0-7CED-4B0E-8C48-E2110AD6B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ClrTx/>
              <a:buFontTx/>
              <a:buNone/>
            </a:pPr>
            <a:fld id="{EC6BA641-E041-4D0A-86E5-8BD4ED739D99}" type="slidenum">
              <a:rPr lang="en-IN" kern="1200" smtClean="0">
                <a:solidFill>
                  <a:prstClr val="black">
                    <a:tint val="75000"/>
                  </a:prstClr>
                </a:solidFill>
                <a:ea typeface="+mn-ea"/>
              </a:rPr>
              <a:pPr>
                <a:buClrTx/>
                <a:buFontTx/>
                <a:buNone/>
              </a:pPr>
              <a:t>‹#›</a:t>
            </a:fld>
            <a:endParaRPr lang="en-IN" kern="1200" dirty="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069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co.com/c/dam/en/us/td/docs/wireless/controller/technotes/8-6/Enterprise_Best_Practices_for_iOS_devices_and_Mac_computers_on_Cisco_Wireless_LAN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chart" Target="../charts/chart1.xml"/><Relationship Id="rId4" Type="http://schemas.openxmlformats.org/officeDocument/2006/relationships/hyperlink" Target="https://metis.fi/en/2017/10/txpower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3A9B53-68C7-4565-AC7D-C3224DFC3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Problem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E360D8-E090-4147-B464-833D00EE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8F18E-21C4-473A-B32C-E727518557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Passengers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bring media content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 on personal portable devices onto airplane, and it is desirable to “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cast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” onto seat back displays.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Considering that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2.4 &amp; 5 GHz Wi-Fi on airplane is congested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, desirable to leverage alternate technology that is/will be supported in COTS portable devices.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Develop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wireless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 casting solution that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99963" marR="0" lvl="1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25000"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supports high resolution (4K) video bandwidth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99963" marR="0" lvl="1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25000"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scales to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400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+ passenger devices in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close proximity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sym typeface="Calibri"/>
              </a:rPr>
              <a:t>.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312438-2366-46C7-91DE-B06DA2761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720" y="4495800"/>
            <a:ext cx="8379384" cy="1905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B05E20-7141-4279-ACA9-62E664B94961}"/>
              </a:ext>
            </a:extLst>
          </p:cNvPr>
          <p:cNvSpPr txBox="1"/>
          <p:nvPr/>
        </p:nvSpPr>
        <p:spPr>
          <a:xfrm>
            <a:off x="9009528" y="4504765"/>
            <a:ext cx="1295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Boeing 777-9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641317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AD878-FD8F-4084-A5E4-2AD41465F8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802.11ad – Wi-Gig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EB857-9222-481B-9073-D7CC319301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BAF3A-B79B-4D8C-A8DF-DACFC7CC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194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8" name="Table 1"/>
          <p:cNvGraphicFramePr/>
          <p:nvPr/>
        </p:nvGraphicFramePr>
        <p:xfrm>
          <a:off x="65700" y="694359"/>
          <a:ext cx="3709986" cy="6088196"/>
        </p:xfrm>
        <a:graphic>
          <a:graphicData uri="http://schemas.openxmlformats.org/drawingml/2006/table">
            <a:tbl>
              <a:tblPr/>
              <a:tblGrid>
                <a:gridCol w="1342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7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Parameter</a:t>
                      </a:r>
                      <a:endParaRPr lang="en-IN" sz="1200" b="0" strike="noStrike" spc="-1">
                        <a:latin typeface="Arial"/>
                      </a:endParaRPr>
                    </a:p>
                  </a:txBody>
                  <a:tcPr marL="3816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38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Details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816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3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200" b="1" strike="noStrike" kern="1200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  <a:cs typeface="+mn-cs"/>
                        </a:rPr>
                        <a:t>Tx Power</a:t>
                      </a:r>
                      <a:endParaRPr lang="en-IN" sz="1200" b="1" strike="noStrike" kern="1200" spc="-1" dirty="0">
                        <a:solidFill>
                          <a:srgbClr val="000000"/>
                        </a:solidFill>
                        <a:latin typeface="Arial"/>
                        <a:cs typeface="+mn-cs"/>
                      </a:endParaRPr>
                    </a:p>
                  </a:txBody>
                  <a:tcPr marL="36000" marR="36000" marT="36000" marB="360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10 </a:t>
                      </a:r>
                      <a:r>
                        <a:rPr lang="en-IN" sz="1200" b="0" strike="noStrike" spc="-1" dirty="0" err="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dbm</a:t>
                      </a: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(average allowed level in Japan, Korea, Australia, and US for portable devices)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200" b="1" strike="noStrike" kern="1200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  <a:cs typeface="+mn-cs"/>
                        </a:rPr>
                        <a:t>Tx. Channel Gain</a:t>
                      </a:r>
                      <a:endParaRPr lang="en-IN" sz="1200" b="1" strike="noStrike" kern="1200" spc="-1" dirty="0">
                        <a:solidFill>
                          <a:srgbClr val="000000"/>
                        </a:solidFill>
                        <a:latin typeface="Arial"/>
                        <a:cs typeface="+mn-cs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15 dBi 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200" b="1" strike="noStrike" kern="1200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  <a:cs typeface="+mn-cs"/>
                        </a:rPr>
                        <a:t>Channel Bandwidth</a:t>
                      </a:r>
                      <a:endParaRPr lang="en-IN" sz="1200" b="1" strike="noStrike" kern="1200" spc="-1" dirty="0">
                        <a:solidFill>
                          <a:srgbClr val="000000"/>
                        </a:solidFill>
                        <a:latin typeface="Arial"/>
                        <a:cs typeface="+mn-cs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1760 Mhz channel bandwidth</a:t>
                      </a:r>
                      <a:endParaRPr lang="en-IN" sz="1200" b="0" strike="noStrike" spc="-1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200" b="1" strike="noStrike" kern="1200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  <a:cs typeface="+mn-cs"/>
                        </a:rPr>
                        <a:t>Transmitter frequency</a:t>
                      </a:r>
                      <a:endParaRPr lang="en-IN" sz="1200" b="1" strike="noStrike" kern="1200" spc="-1" dirty="0">
                        <a:solidFill>
                          <a:srgbClr val="000000"/>
                        </a:solidFill>
                        <a:latin typeface="Arial"/>
                        <a:cs typeface="+mn-cs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60 </a:t>
                      </a:r>
                      <a:r>
                        <a:rPr lang="en-IN" sz="1200" b="0" strike="noStrike" spc="-1" dirty="0" err="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Ghz</a:t>
                      </a: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 carriers 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200" b="1" strike="noStrike" kern="1200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  <a:cs typeface="+mn-cs"/>
                        </a:rPr>
                        <a:t>Rx Channel Gain</a:t>
                      </a:r>
                      <a:endParaRPr lang="en-IN" sz="1200" b="1" strike="noStrike" kern="1200" spc="-1" dirty="0">
                        <a:solidFill>
                          <a:srgbClr val="000000"/>
                        </a:solidFill>
                        <a:latin typeface="Arial"/>
                        <a:cs typeface="+mn-cs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15 dBi 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200" b="1" strike="noStrike" kern="1200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  <a:cs typeface="+mn-cs"/>
                        </a:rPr>
                        <a:t># of Channels</a:t>
                      </a:r>
                      <a:endParaRPr lang="en-IN" sz="1200" b="1" strike="noStrike" kern="1200" spc="-1" dirty="0">
                        <a:solidFill>
                          <a:srgbClr val="000000"/>
                        </a:solidFill>
                        <a:latin typeface="Arial"/>
                        <a:cs typeface="+mn-cs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Channels 1 to 6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200" b="1" strike="noStrike" kern="1200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  <a:cs typeface="+mn-cs"/>
                        </a:rPr>
                        <a:t># of Tx Antennas per cell</a:t>
                      </a:r>
                      <a:endParaRPr lang="en-IN" sz="1200" b="1" strike="noStrike" kern="1200" spc="-1" dirty="0">
                        <a:solidFill>
                          <a:srgbClr val="000000"/>
                        </a:solidFill>
                        <a:latin typeface="Arial"/>
                        <a:cs typeface="+mn-cs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200" b="1" strike="noStrike" kern="1200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  <a:cs typeface="+mn-cs"/>
                        </a:rPr>
                        <a:t># of Rx Antennas per cell</a:t>
                      </a:r>
                      <a:endParaRPr lang="en-IN" sz="1200" b="1" strike="noStrike" kern="1200" spc="-1" dirty="0">
                        <a:solidFill>
                          <a:srgbClr val="000000"/>
                        </a:solidFill>
                        <a:latin typeface="Arial"/>
                        <a:cs typeface="+mn-cs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200" b="1" strike="noStrike" kern="1200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  <a:cs typeface="+mn-cs"/>
                        </a:rPr>
                        <a:t>MCS</a:t>
                      </a:r>
                      <a:endParaRPr lang="en-IN" sz="1200" b="1" strike="noStrike" kern="1200" spc="-1" dirty="0">
                        <a:solidFill>
                          <a:srgbClr val="000000"/>
                        </a:solidFill>
                        <a:latin typeface="Arial"/>
                        <a:cs typeface="+mn-cs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MCS 1 to 9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200" b="1" strike="noStrike" kern="1200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  <a:cs typeface="+mn-cs"/>
                        </a:rPr>
                        <a:t>PDSU Size</a:t>
                      </a:r>
                      <a:endParaRPr lang="en-IN" sz="1200" b="1" strike="noStrike" kern="1200" spc="-1" dirty="0">
                        <a:solidFill>
                          <a:srgbClr val="000000"/>
                        </a:solidFill>
                        <a:latin typeface="Arial"/>
                        <a:cs typeface="+mn-cs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4096 bytes</a:t>
                      </a:r>
                      <a:endParaRPr lang="en-IN" sz="1200" b="0" strike="noStrike" spc="-1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en-IN" sz="1200" b="1" strike="noStrike" kern="1200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  <a:cs typeface="+mn-cs"/>
                        </a:rPr>
                        <a:t>Number of cells in [</a:t>
                      </a:r>
                      <a:r>
                        <a:rPr lang="en-IN" sz="1200" b="1" strike="noStrike" kern="1200" spc="-1" dirty="0" err="1">
                          <a:solidFill>
                            <a:srgbClr val="000000"/>
                          </a:solidFill>
                          <a:latin typeface="Arial"/>
                          <a:ea typeface="DejaVu Sans"/>
                          <a:cs typeface="+mn-cs"/>
                        </a:rPr>
                        <a:t>x,y</a:t>
                      </a:r>
                      <a:r>
                        <a:rPr lang="en-IN" sz="1200" b="1" strike="noStrike" kern="1200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  <a:cs typeface="+mn-cs"/>
                        </a:rPr>
                        <a:t>] directions</a:t>
                      </a:r>
                      <a:endParaRPr lang="en-IN" sz="1200" b="1" strike="noStrike" kern="1200" spc="-1" dirty="0">
                        <a:solidFill>
                          <a:srgbClr val="000000"/>
                        </a:solidFill>
                        <a:latin typeface="Arial"/>
                        <a:cs typeface="+mn-cs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10 X 10 for testing 100 seats</a:t>
                      </a:r>
                      <a:endParaRPr lang="en-IN" sz="12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40 X 10 for testing 400 seats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1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Dimensions of a cell (m)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0.86 x 0.43 x 2</a:t>
                      </a: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(</a:t>
                      </a:r>
                      <a:r>
                        <a:rPr lang="en-IN" sz="1200" b="0" i="0" u="none" strike="noStrike" baseline="0" dirty="0">
                          <a:solidFill>
                            <a:srgbClr val="028009"/>
                          </a:solidFill>
                          <a:latin typeface="Courier New" panose="02070309020205020404" pitchFamily="49" charset="0"/>
                        </a:rPr>
                        <a:t>Pitch, width, height)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860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1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# of Antenna Elements in Tx and Rx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[3,2]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258221"/>
                  </a:ext>
                </a:extLst>
              </a:tr>
            </a:tbl>
          </a:graphicData>
        </a:graphic>
      </p:graphicFrame>
      <p:graphicFrame>
        <p:nvGraphicFramePr>
          <p:cNvPr id="649" name="Table 2"/>
          <p:cNvGraphicFramePr/>
          <p:nvPr/>
        </p:nvGraphicFramePr>
        <p:xfrm>
          <a:off x="3917189" y="700561"/>
          <a:ext cx="3515994" cy="3385950"/>
        </p:xfrm>
        <a:graphic>
          <a:graphicData uri="http://schemas.openxmlformats.org/drawingml/2006/table">
            <a:tbl>
              <a:tblPr/>
              <a:tblGrid>
                <a:gridCol w="1203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2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Parameter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816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Details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816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1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Position of Tx in a cell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Two positions for 100 seats – </a:t>
                      </a:r>
                      <a:endParaRPr lang="en-IN" sz="12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0.125 X0.15X 0.85 (</a:t>
                      </a:r>
                      <a:r>
                        <a:rPr lang="en-IN" sz="1200" b="1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Tray</a:t>
                      </a: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) &amp; </a:t>
                      </a:r>
                      <a:endParaRPr lang="en-IN" sz="12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0.125 X 0.43 X 0.50 (</a:t>
                      </a:r>
                      <a:r>
                        <a:rPr lang="en-IN" sz="1200" b="1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Lap</a:t>
                      </a: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)</a:t>
                      </a:r>
                      <a:endParaRPr lang="en-IN" sz="12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For 400 seats the Tx position is considered as </a:t>
                      </a:r>
                      <a:endParaRPr lang="en-IN" sz="12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0.125 X0.15X 0.85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000000"/>
                      </a:solidFill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1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Position of Rx in a cell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0.25 X 0 X 1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1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Orientation of Tx Antenna</a:t>
                      </a:r>
                      <a:endParaRPr lang="en-IN" sz="1200" b="0" strike="noStrike" spc="-1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[0; 0; 0] degrees</a:t>
                      </a:r>
                      <a:endParaRPr lang="en-IN" sz="12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1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Orientation of Rx Antenna</a:t>
                      </a:r>
                      <a:endParaRPr lang="en-IN" sz="1200" b="0" strike="noStrike" spc="-1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[0; 270; 0] degrees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1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Beamforming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IN" sz="1200" b="0" strike="noStrike" spc="-1" dirty="0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True</a:t>
                      </a:r>
                      <a:endParaRPr lang="en-IN" sz="1200" b="0" strike="noStrike" spc="-1" dirty="0">
                        <a:latin typeface="Arial"/>
                      </a:endParaRPr>
                    </a:p>
                  </a:txBody>
                  <a:tcPr marL="36000" marR="381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50" name="CustomShape 3"/>
          <p:cNvSpPr/>
          <p:nvPr/>
        </p:nvSpPr>
        <p:spPr>
          <a:xfrm>
            <a:off x="4166647" y="4890728"/>
            <a:ext cx="7956478" cy="189201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4400">
              <a:lnSpc>
                <a:spcPct val="100000"/>
              </a:lnSpc>
              <a:buClr>
                <a:srgbClr val="1F497D"/>
              </a:buClr>
              <a:buFont typeface="Wingdings" charset="2"/>
              <a:buChar char=""/>
            </a:pPr>
            <a:r>
              <a:rPr lang="en-IN" sz="1800" strike="noStrike" spc="-1" dirty="0">
                <a:solidFill>
                  <a:schemeClr val="tx1"/>
                </a:solidFill>
                <a:latin typeface="Arial"/>
                <a:ea typeface="Calibri"/>
              </a:rPr>
              <a:t>Each cell has an access point (AP) on the seat back display and one station (STA) for the user’s device. </a:t>
            </a:r>
            <a:endParaRPr lang="en-IN" sz="1800" strike="noStrike" spc="-1" dirty="0">
              <a:solidFill>
                <a:schemeClr val="tx1"/>
              </a:solidFill>
              <a:latin typeface="Arial"/>
            </a:endParaRPr>
          </a:p>
          <a:p>
            <a:pPr marL="285840" indent="-284400">
              <a:lnSpc>
                <a:spcPct val="115000"/>
              </a:lnSpc>
              <a:buClr>
                <a:srgbClr val="1F497D"/>
              </a:buClr>
              <a:buFont typeface="Wingdings" charset="2"/>
              <a:buChar char=""/>
            </a:pPr>
            <a:r>
              <a:rPr lang="en-IN" sz="1800" strike="noStrike" spc="-1" dirty="0">
                <a:solidFill>
                  <a:schemeClr val="tx1"/>
                </a:solidFill>
                <a:latin typeface="Arial"/>
                <a:ea typeface="DejaVu Sans"/>
              </a:rPr>
              <a:t>APs and STAs are randomly 'dropped' within the scenario.</a:t>
            </a:r>
            <a:endParaRPr lang="en-IN" sz="1800" strike="noStrike" spc="-1" dirty="0">
              <a:solidFill>
                <a:schemeClr val="tx1"/>
              </a:solidFill>
              <a:latin typeface="Arial"/>
            </a:endParaRPr>
          </a:p>
          <a:p>
            <a:pPr marL="285840" indent="-284400">
              <a:lnSpc>
                <a:spcPct val="115000"/>
              </a:lnSpc>
              <a:buClr>
                <a:srgbClr val="1F497D"/>
              </a:buClr>
              <a:buFont typeface="Wingdings" charset="2"/>
              <a:buChar char=""/>
            </a:pPr>
            <a:r>
              <a:rPr lang="en-IN" sz="1800" strike="noStrike" spc="-1" dirty="0">
                <a:solidFill>
                  <a:schemeClr val="tx1"/>
                </a:solidFill>
                <a:latin typeface="Arial"/>
                <a:ea typeface="DejaVu Sans"/>
              </a:rPr>
              <a:t>For each pair of nodes, the large-scale path loss is calculated.</a:t>
            </a:r>
            <a:endParaRPr lang="en-IN" sz="1800" strike="noStrike" spc="-1" dirty="0">
              <a:solidFill>
                <a:schemeClr val="tx1"/>
              </a:solidFill>
              <a:latin typeface="Arial"/>
            </a:endParaRPr>
          </a:p>
          <a:p>
            <a:pPr marL="285840" indent="-284400">
              <a:lnSpc>
                <a:spcPct val="115000"/>
              </a:lnSpc>
              <a:buClr>
                <a:srgbClr val="1F497D"/>
              </a:buClr>
              <a:buFont typeface="Wingdings" charset="2"/>
              <a:buChar char=""/>
            </a:pPr>
            <a:r>
              <a:rPr lang="en-IN" sz="1800" strike="noStrike" spc="-1" dirty="0">
                <a:solidFill>
                  <a:schemeClr val="tx1"/>
                </a:solidFill>
                <a:latin typeface="Arial"/>
                <a:ea typeface="DejaVu Sans"/>
              </a:rPr>
              <a:t>One or more 'transmission events' is performed. </a:t>
            </a:r>
            <a:endParaRPr lang="en-IN" sz="1800" strike="noStrike" spc="-1" dirty="0">
              <a:solidFill>
                <a:schemeClr val="tx1"/>
              </a:solidFill>
              <a:latin typeface="Arial"/>
            </a:endParaRPr>
          </a:p>
          <a:p>
            <a:pPr marL="285840" indent="-284400">
              <a:lnSpc>
                <a:spcPct val="115000"/>
              </a:lnSpc>
              <a:buClr>
                <a:srgbClr val="1F497D"/>
              </a:buClr>
              <a:buFont typeface="Wingdings" charset="2"/>
              <a:buChar char=""/>
            </a:pPr>
            <a:r>
              <a:rPr lang="en-IN" sz="1800" strike="noStrike" spc="-1" dirty="0">
                <a:solidFill>
                  <a:schemeClr val="tx1"/>
                </a:solidFill>
                <a:latin typeface="Arial"/>
                <a:ea typeface="DejaVu Sans"/>
              </a:rPr>
              <a:t>Average PER and Data Rate is calculated for different channel allocation</a:t>
            </a:r>
            <a:endParaRPr lang="en-IN" sz="1800" strike="noStrike" spc="-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651" name="CustomShape 4"/>
          <p:cNvSpPr/>
          <p:nvPr/>
        </p:nvSpPr>
        <p:spPr>
          <a:xfrm>
            <a:off x="457200" y="50760"/>
            <a:ext cx="11121120" cy="606600"/>
          </a:xfrm>
          <a:prstGeom prst="rect">
            <a:avLst/>
          </a:prstGeom>
        </p:spPr>
        <p:txBody>
          <a:bodyPr vert="horz" lIns="216000" tIns="45720" rIns="18000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IN" sz="320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Simulation Scenario – 100 &amp; 400 Seats</a:t>
            </a:r>
          </a:p>
        </p:txBody>
      </p:sp>
      <p:grpSp>
        <p:nvGrpSpPr>
          <p:cNvPr id="652" name="Group 5"/>
          <p:cNvGrpSpPr/>
          <p:nvPr/>
        </p:nvGrpSpPr>
        <p:grpSpPr>
          <a:xfrm>
            <a:off x="7574686" y="902785"/>
            <a:ext cx="4419199" cy="3915604"/>
            <a:chOff x="6485904" y="873720"/>
            <a:chExt cx="4153176" cy="4094280"/>
          </a:xfrm>
        </p:grpSpPr>
        <p:pic>
          <p:nvPicPr>
            <p:cNvPr id="653" name="Picture 20"/>
            <p:cNvPicPr/>
            <p:nvPr/>
          </p:nvPicPr>
          <p:blipFill>
            <a:blip r:embed="rId3"/>
            <a:stretch/>
          </p:blipFill>
          <p:spPr>
            <a:xfrm>
              <a:off x="6809400" y="926280"/>
              <a:ext cx="3829680" cy="4041720"/>
            </a:xfrm>
            <a:prstGeom prst="rect">
              <a:avLst/>
            </a:prstGeom>
            <a:ln>
              <a:noFill/>
            </a:ln>
          </p:spPr>
        </p:pic>
        <p:sp>
          <p:nvSpPr>
            <p:cNvPr id="654" name="CustomShape 6"/>
            <p:cNvSpPr/>
            <p:nvPr/>
          </p:nvSpPr>
          <p:spPr>
            <a:xfrm>
              <a:off x="7219440" y="1123920"/>
              <a:ext cx="1757520" cy="7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9080">
              <a:solidFill>
                <a:schemeClr val="tx1">
                  <a:lumMod val="95000"/>
                  <a:lumOff val="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56" name="CustomShape 8"/>
            <p:cNvSpPr/>
            <p:nvPr/>
          </p:nvSpPr>
          <p:spPr>
            <a:xfrm flipH="1">
              <a:off x="7846200" y="1509120"/>
              <a:ext cx="360" cy="34484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9080">
              <a:solidFill>
                <a:schemeClr val="tx1">
                  <a:lumMod val="85000"/>
                  <a:lumOff val="1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 sz="2000"/>
            </a:p>
          </p:txBody>
        </p:sp>
        <p:sp>
          <p:nvSpPr>
            <p:cNvPr id="657" name="Line 9"/>
            <p:cNvSpPr/>
            <p:nvPr/>
          </p:nvSpPr>
          <p:spPr>
            <a:xfrm flipV="1">
              <a:off x="7309800" y="1509120"/>
              <a:ext cx="1519200" cy="10080"/>
            </a:xfrm>
            <a:prstGeom prst="line">
              <a:avLst/>
            </a:prstGeom>
            <a:ln w="12600">
              <a:solidFill>
                <a:srgbClr val="FF0000"/>
              </a:solidFill>
              <a:custDash>
                <a:ds d="100000" sp="100000"/>
              </a:custDash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58" name="CustomShape 10"/>
            <p:cNvSpPr/>
            <p:nvPr/>
          </p:nvSpPr>
          <p:spPr>
            <a:xfrm>
              <a:off x="7577024" y="873720"/>
              <a:ext cx="970560" cy="2502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0" rIns="90000" bIns="45000"/>
            <a:lstStyle/>
            <a:p>
              <a:pPr algn="ctr"/>
              <a:r>
                <a:rPr lang="en-IN" spc="-1" dirty="0">
                  <a:latin typeface="Calibri"/>
                </a:rPr>
                <a:t>Pitch 0.86m</a:t>
              </a:r>
            </a:p>
          </p:txBody>
        </p:sp>
        <p:sp>
          <p:nvSpPr>
            <p:cNvPr id="659" name="CustomShape 11"/>
            <p:cNvSpPr/>
            <p:nvPr/>
          </p:nvSpPr>
          <p:spPr>
            <a:xfrm>
              <a:off x="6485904" y="4249480"/>
              <a:ext cx="728064" cy="281577"/>
            </a:xfrm>
            <a:prstGeom prst="rect">
              <a:avLst/>
            </a:prstGeom>
            <a:solidFill>
              <a:schemeClr val="bg1">
                <a:lumMod val="95000"/>
                <a:alpha val="74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0" rIns="90000" bIns="45000"/>
            <a:lstStyle/>
            <a:p>
              <a:pPr algn="ctr"/>
              <a:r>
                <a:rPr lang="en-IN" spc="-1" dirty="0">
                  <a:latin typeface="Calibri"/>
                </a:rPr>
                <a:t>0.43m</a:t>
              </a:r>
            </a:p>
          </p:txBody>
        </p:sp>
        <p:sp>
          <p:nvSpPr>
            <p:cNvPr id="660" name="CustomShape 12"/>
            <p:cNvSpPr/>
            <p:nvPr/>
          </p:nvSpPr>
          <p:spPr>
            <a:xfrm>
              <a:off x="7713216" y="1264716"/>
              <a:ext cx="783000" cy="2502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0" rIns="90000" bIns="45000"/>
            <a:lstStyle/>
            <a:p>
              <a:pPr algn="ctr"/>
              <a:r>
                <a:rPr lang="en-IN" spc="-1" dirty="0">
                  <a:latin typeface="Calibri"/>
                </a:rPr>
                <a:t>Eye level</a:t>
              </a:r>
            </a:p>
          </p:txBody>
        </p:sp>
        <p:sp>
          <p:nvSpPr>
            <p:cNvPr id="661" name="CustomShape 13"/>
            <p:cNvSpPr/>
            <p:nvPr/>
          </p:nvSpPr>
          <p:spPr>
            <a:xfrm>
              <a:off x="7900920" y="2026116"/>
              <a:ext cx="394560" cy="250200"/>
            </a:xfrm>
            <a:prstGeom prst="rect">
              <a:avLst/>
            </a:prstGeom>
            <a:solidFill>
              <a:schemeClr val="bg1">
                <a:lumMod val="95000"/>
                <a:alpha val="34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0" rIns="90000" bIns="45000"/>
            <a:lstStyle/>
            <a:p>
              <a:pPr algn="ctr"/>
              <a:r>
                <a:rPr lang="en-IN" spc="-1" dirty="0">
                  <a:latin typeface="Calibri"/>
                </a:rPr>
                <a:t>1m</a:t>
              </a:r>
            </a:p>
          </p:txBody>
        </p:sp>
        <p:sp>
          <p:nvSpPr>
            <p:cNvPr id="663" name="CustomShape 15"/>
            <p:cNvSpPr/>
            <p:nvPr/>
          </p:nvSpPr>
          <p:spPr>
            <a:xfrm>
              <a:off x="8528452" y="3042000"/>
              <a:ext cx="604800" cy="250200"/>
            </a:xfrm>
            <a:prstGeom prst="rect">
              <a:avLst/>
            </a:prstGeom>
            <a:solidFill>
              <a:schemeClr val="bg1">
                <a:lumMod val="95000"/>
                <a:alpha val="34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0" rIns="90000" bIns="45000"/>
            <a:lstStyle/>
            <a:p>
              <a:pPr algn="ctr"/>
              <a:r>
                <a:rPr lang="en-IN" spc="-1" dirty="0">
                  <a:latin typeface="Calibri"/>
                </a:rPr>
                <a:t>0.38m</a:t>
              </a:r>
            </a:p>
          </p:txBody>
        </p:sp>
        <p:sp>
          <p:nvSpPr>
            <p:cNvPr id="655" name="CustomShape 7"/>
            <p:cNvSpPr/>
            <p:nvPr/>
          </p:nvSpPr>
          <p:spPr>
            <a:xfrm flipH="1">
              <a:off x="7067160" y="4092840"/>
              <a:ext cx="151560" cy="7941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9080">
              <a:solidFill>
                <a:schemeClr val="tx1">
                  <a:lumMod val="95000"/>
                  <a:lumOff val="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2" name="CustomShape 14"/>
            <p:cNvSpPr/>
            <p:nvPr/>
          </p:nvSpPr>
          <p:spPr>
            <a:xfrm>
              <a:off x="8597880" y="2979000"/>
              <a:ext cx="462240" cy="7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CustomShape 2"/>
          <p:cNvSpPr/>
          <p:nvPr/>
        </p:nvSpPr>
        <p:spPr>
          <a:xfrm>
            <a:off x="97712" y="849600"/>
            <a:ext cx="11993400" cy="5301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just">
              <a:lnSpc>
                <a:spcPct val="100000"/>
              </a:lnSpc>
            </a:pPr>
            <a:r>
              <a:rPr lang="en-IN" sz="2400" b="0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Considering the simulations performed and observations made, we find the following key takeaways from the study made for 802.11ad while testing for 400 seats in a cabin environment -</a:t>
            </a:r>
            <a:endParaRPr lang="en-IN" sz="24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IN" sz="2400" b="0" strike="noStrike" spc="-1" dirty="0">
              <a:latin typeface="Arial"/>
            </a:endParaRPr>
          </a:p>
          <a:p>
            <a:pPr marL="230400" indent="-23040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400" b="0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When the Tx is placed in the food tray, </a:t>
            </a:r>
            <a:r>
              <a:rPr lang="en-IN" sz="2400" b="1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MCS 2 (</a:t>
            </a:r>
            <a:r>
              <a:rPr lang="en-IN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π/2-BPSK modulation)</a:t>
            </a:r>
            <a:r>
              <a:rPr lang="en-IN" sz="2400" b="1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 would be able to transmit 4K Video with good through put and PER &lt;= 10% in all channels for 400 seats</a:t>
            </a:r>
            <a:r>
              <a:rPr lang="en-IN" sz="2400" b="0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lang="en-IN" sz="2400" b="0" strike="noStrike" spc="-1" dirty="0">
              <a:latin typeface="Arial"/>
            </a:endParaRPr>
          </a:p>
          <a:p>
            <a:pPr marL="230400" indent="-230400" algn="just">
              <a:lnSpc>
                <a:spcPct val="100000"/>
              </a:lnSpc>
            </a:pPr>
            <a:endParaRPr lang="en-IN" sz="2400" b="0" strike="noStrike" spc="-1" dirty="0">
              <a:latin typeface="Arial"/>
            </a:endParaRPr>
          </a:p>
          <a:p>
            <a:pPr marL="230400" indent="-23040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400" b="0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When Tx is placed in the Lap position, </a:t>
            </a:r>
            <a:r>
              <a:rPr lang="en-IN" sz="2400" b="1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MCS 2 would still be able to transmit 4K Video with good throughput and PER &lt;=10%</a:t>
            </a:r>
            <a:r>
              <a:rPr lang="en-IN" sz="2400" b="0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. Higher MCS such as MCS 6 and above shall experience PER &gt; 10% in this condition. </a:t>
            </a:r>
            <a:endParaRPr lang="en-IN" sz="2400" b="0" strike="noStrike" spc="-1" dirty="0">
              <a:latin typeface="Arial"/>
            </a:endParaRPr>
          </a:p>
          <a:p>
            <a:pPr marL="230400" indent="-230400" algn="just">
              <a:lnSpc>
                <a:spcPct val="100000"/>
              </a:lnSpc>
            </a:pPr>
            <a:endParaRPr lang="en-IN" sz="2400" b="0" strike="noStrike" spc="-1" dirty="0">
              <a:latin typeface="Arial"/>
            </a:endParaRPr>
          </a:p>
          <a:p>
            <a:pPr marL="230400" indent="-23040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400" b="1" strike="noStrike" spc="-1" dirty="0">
                <a:latin typeface="Arial"/>
              </a:rPr>
              <a:t>Modulation schemes 7 and above may not be suitable for transmitting 4K videos</a:t>
            </a:r>
            <a:r>
              <a:rPr lang="en-IN" sz="2400" b="0" strike="noStrike" spc="-1" dirty="0">
                <a:latin typeface="Arial"/>
              </a:rPr>
              <a:t> in cabin environment for 400 seats as they may experience &gt; 10% PER in the conditions specified.</a:t>
            </a:r>
          </a:p>
        </p:txBody>
      </p:sp>
      <p:sp>
        <p:nvSpPr>
          <p:cNvPr id="693" name="CustomShape 3"/>
          <p:cNvSpPr/>
          <p:nvPr/>
        </p:nvSpPr>
        <p:spPr>
          <a:xfrm>
            <a:off x="457200" y="50760"/>
            <a:ext cx="11121120" cy="606600"/>
          </a:xfrm>
          <a:prstGeom prst="rect">
            <a:avLst/>
          </a:prstGeom>
        </p:spPr>
        <p:txBody>
          <a:bodyPr vert="horz" lIns="216000" tIns="45720" rIns="18000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IN" sz="320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Key Takeaways from 802.11ad Study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2A836-65A5-4EEE-BC89-29F4FA2132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802.11ax - Wi-Fi 6E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D4553-B7BA-4D58-8DCA-EEA75799B9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43070-3413-4F8E-A2F4-8123CD1CF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942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Simulations for choice of Phone Transmission Power</a:t>
            </a:r>
            <a:endParaRPr lang="en-IN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778112"/>
              </p:ext>
            </p:extLst>
          </p:nvPr>
        </p:nvGraphicFramePr>
        <p:xfrm>
          <a:off x="8808889" y="1335018"/>
          <a:ext cx="3186365" cy="2289998"/>
        </p:xfrm>
        <a:graphic>
          <a:graphicData uri="http://schemas.openxmlformats.org/drawingml/2006/table">
            <a:tbl>
              <a:tblPr firstRow="1" bandRow="1"/>
              <a:tblGrid>
                <a:gridCol w="749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108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700" dirty="0"/>
                        <a:t>Bandwidth (MHz)</a:t>
                      </a:r>
                      <a:endParaRPr lang="en-IN" sz="1700" dirty="0"/>
                    </a:p>
                  </a:txBody>
                  <a:tcPr marL="71431" marR="71431" marT="47608" marB="47608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IN" sz="1700" dirty="0"/>
                        <a:t>Stream data rate (Mb/s)</a:t>
                      </a:r>
                    </a:p>
                    <a:p>
                      <a:r>
                        <a:rPr lang="en-US" sz="1700" dirty="0"/>
                        <a:t>16</a:t>
                      </a:r>
                      <a:r>
                        <a:rPr lang="en-US" sz="1700" baseline="0" dirty="0"/>
                        <a:t> </a:t>
                      </a:r>
                      <a:r>
                        <a:rPr lang="en-US" sz="1700" dirty="0"/>
                        <a:t>QAM )</a:t>
                      </a:r>
                      <a:endParaRPr lang="en-IN" sz="1700" dirty="0"/>
                    </a:p>
                  </a:txBody>
                  <a:tcPr marL="71431" marR="71431" marT="47608" marB="47608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700" dirty="0"/>
                        <a:t>Stream data rate (Mb/s)</a:t>
                      </a:r>
                    </a:p>
                    <a:p>
                      <a:r>
                        <a:rPr lang="en-US" sz="1700" dirty="0"/>
                        <a:t>256</a:t>
                      </a:r>
                      <a:r>
                        <a:rPr lang="en-US" sz="1700" baseline="0" dirty="0"/>
                        <a:t> QAM</a:t>
                      </a:r>
                      <a:endParaRPr lang="en-IN" sz="1700" dirty="0"/>
                    </a:p>
                  </a:txBody>
                  <a:tcPr marL="71431" marR="71431" marT="47608" marB="47608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1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900" dirty="0"/>
                        <a:t>20</a:t>
                      </a:r>
                      <a:endParaRPr lang="en-IN" sz="1900" dirty="0"/>
                    </a:p>
                  </a:txBody>
                  <a:tcPr marL="71431" marR="71431" marT="47608" marB="47608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  <a:endParaRPr lang="en-IN" sz="1500" dirty="0"/>
                    </a:p>
                  </a:txBody>
                  <a:tcPr marL="71431" marR="71431" marT="47608" marB="47608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900" dirty="0"/>
                        <a:t>98</a:t>
                      </a:r>
                      <a:endParaRPr lang="en-IN" sz="1900" dirty="0"/>
                    </a:p>
                  </a:txBody>
                  <a:tcPr marL="71431" marR="71431" marT="47608" marB="47608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1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900" dirty="0"/>
                        <a:t>40</a:t>
                      </a:r>
                      <a:endParaRPr lang="en-IN" sz="1900" dirty="0"/>
                    </a:p>
                  </a:txBody>
                  <a:tcPr marL="71431" marR="71431" marT="47608" marB="47608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  <a:endParaRPr lang="en-IN" sz="1500" dirty="0"/>
                    </a:p>
                  </a:txBody>
                  <a:tcPr marL="71431" marR="71431" marT="47608" marB="47608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195</a:t>
                      </a:r>
                      <a:endParaRPr lang="en-IN" sz="1500" dirty="0"/>
                    </a:p>
                  </a:txBody>
                  <a:tcPr marL="71431" marR="71431" marT="47608" marB="47608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1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1900" dirty="0"/>
                        <a:t>80</a:t>
                      </a:r>
                      <a:endParaRPr lang="en-IN" sz="1900" dirty="0"/>
                    </a:p>
                  </a:txBody>
                  <a:tcPr marL="71431" marR="71431" marT="47608" marB="47608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endParaRPr lang="en-IN" sz="1500" dirty="0"/>
                    </a:p>
                  </a:txBody>
                  <a:tcPr marL="71431" marR="71431" marT="47608" marB="47608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408</a:t>
                      </a:r>
                      <a:endParaRPr lang="en-IN" sz="1500" dirty="0"/>
                    </a:p>
                  </a:txBody>
                  <a:tcPr marL="71431" marR="71431" marT="47608" marB="47608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C69F984-D013-4385-87C7-55B8C182E5CB}"/>
              </a:ext>
            </a:extLst>
          </p:cNvPr>
          <p:cNvSpPr txBox="1"/>
          <p:nvPr/>
        </p:nvSpPr>
        <p:spPr>
          <a:xfrm>
            <a:off x="-1" y="5868158"/>
            <a:ext cx="8738648" cy="10156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pPr marL="0" marR="0" lvl="0" indent="0" defTabSz="91440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Takeaway: iPhones &amp; iPads have TxPower in the range of 9 to 14 dBm</a:t>
            </a:r>
          </a:p>
          <a:p>
            <a:pPr marL="0" marR="0" lvl="0" indent="0" defTabSz="91440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Most mobile phones: 11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dBm</a:t>
            </a:r>
            <a:endParaRPr kumimoji="0" lang="en-IN" sz="2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02459" y="5819367"/>
            <a:ext cx="318636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3"/>
              </a:rPr>
              <a:t>https://www.cisco.com/c/dam/en/us/td/docs/wireless/controller/technotes/8-6/Enterprise_Best_Practices_for_iOS_devices_and_Mac_computers_on_Cisco_Wireless_LAN.pdf</a:t>
            </a:r>
            <a:endParaRPr kumimoji="0" lang="en-IN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4"/>
              </a:rPr>
              <a:t>https://metis.fi/en/2017/10/txpower/</a:t>
            </a:r>
            <a:endParaRPr kumimoji="0" lang="en-IN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6F8B745-4FEF-4936-A862-46528554F105}"/>
              </a:ext>
            </a:extLst>
          </p:cNvPr>
          <p:cNvGrpSpPr/>
          <p:nvPr/>
        </p:nvGrpSpPr>
        <p:grpSpPr>
          <a:xfrm>
            <a:off x="303212" y="1138136"/>
            <a:ext cx="7795894" cy="4402615"/>
            <a:chOff x="303212" y="1138136"/>
            <a:chExt cx="7795894" cy="440261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3DDB8CE-A2C9-42E2-B344-CBBBEE026B40}"/>
                </a:ext>
              </a:extLst>
            </p:cNvPr>
            <p:cNvSpPr/>
            <p:nvPr/>
          </p:nvSpPr>
          <p:spPr>
            <a:xfrm>
              <a:off x="5019135" y="1316620"/>
              <a:ext cx="1846269" cy="4224131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27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aphicFrame>
          <p:nvGraphicFramePr>
            <p:cNvPr id="29" name="Chart 28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99225978"/>
                </p:ext>
              </p:extLst>
            </p:nvPr>
          </p:nvGraphicFramePr>
          <p:xfrm>
            <a:off x="303212" y="1138136"/>
            <a:ext cx="7795894" cy="40272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3982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solidFill>
                  <a:schemeClr val="dk1"/>
                </a:solidFill>
                <a:sym typeface="Calibri"/>
              </a:rPr>
              <a:t>Tx-Rx Link and Interference</a:t>
            </a:r>
            <a:endParaRPr lang="en-IN" b="0" dirty="0"/>
          </a:p>
        </p:txBody>
      </p:sp>
      <p:pic>
        <p:nvPicPr>
          <p:cNvPr id="3" name="Simulation_Clip2">
            <a:hlinkClick r:id="" action="ppaction://media"/>
            <a:extLst>
              <a:ext uri="{FF2B5EF4-FFF2-40B4-BE49-F238E27FC236}">
                <a16:creationId xmlns:a16="http://schemas.microsoft.com/office/drawing/2014/main" id="{7AAAE4AB-156D-425F-B341-396E35D0B2E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02885" y="889725"/>
            <a:ext cx="10393302" cy="59056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1A3969-517F-43F1-83AF-13CCA0ECB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84" y="889725"/>
            <a:ext cx="3637011" cy="8268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307104-3654-4DEB-91B7-8C97CA1F246D}"/>
              </a:ext>
            </a:extLst>
          </p:cNvPr>
          <p:cNvSpPr/>
          <p:nvPr/>
        </p:nvSpPr>
        <p:spPr>
          <a:xfrm>
            <a:off x="2380499" y="1084279"/>
            <a:ext cx="603115" cy="447473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C78259-57AC-420B-8244-4CE961C1CB44}"/>
              </a:ext>
            </a:extLst>
          </p:cNvPr>
          <p:cNvSpPr txBox="1"/>
          <p:nvPr/>
        </p:nvSpPr>
        <p:spPr>
          <a:xfrm>
            <a:off x="10012406" y="930390"/>
            <a:ext cx="1083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100 seats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25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F0D3-1849-417B-97D8-CA583B5DD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0" dirty="0">
                <a:solidFill>
                  <a:schemeClr val="dk1"/>
                </a:solidFill>
              </a:rPr>
              <a:t>Simulation 1: </a:t>
            </a:r>
            <a:r>
              <a:rPr lang="en-US" sz="3200" dirty="0">
                <a:solidFill>
                  <a:schemeClr val="dk1"/>
                </a:solidFill>
              </a:rPr>
              <a:t>PER estimation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85A6E5-F148-49CF-9FD0-4DAC569D2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B0486-48DF-43AC-B6DB-DBD8EE9C8C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Objective</a:t>
            </a:r>
          </a:p>
          <a:p>
            <a:r>
              <a:rPr lang="en-US" dirty="0"/>
              <a:t>To understand the effect of various parameters on PER across seats.</a:t>
            </a:r>
          </a:p>
          <a:p>
            <a:r>
              <a:rPr lang="en-US" b="1" dirty="0"/>
              <a:t>3 channels </a:t>
            </a:r>
            <a:r>
              <a:rPr lang="en-US" dirty="0"/>
              <a:t>to be allocated and SINR threshold kept high so that more nodes are simultaneously active.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Algorithm</a:t>
            </a:r>
          </a:p>
          <a:p>
            <a:pPr marL="342900" lvl="0" indent="-342900" algn="just">
              <a:buSzPct val="100000"/>
              <a:buFont typeface="+mj-lt"/>
              <a:buAutoNum type="arabicPeriod"/>
            </a:pPr>
            <a:r>
              <a:rPr lang="en-US" sz="2400" dirty="0"/>
              <a:t>Assign channels randomly.</a:t>
            </a:r>
            <a:endParaRPr lang="en-IN" sz="2400" dirty="0"/>
          </a:p>
          <a:p>
            <a:pPr marL="342900" lvl="0" indent="-342900" algn="just">
              <a:buSzPct val="100000"/>
              <a:buFont typeface="+mj-lt"/>
              <a:buAutoNum type="arabicPeriod"/>
            </a:pPr>
            <a:r>
              <a:rPr lang="en-US" sz="2400" dirty="0"/>
              <a:t>Nodes with SINR above threshold are deemed active.</a:t>
            </a:r>
            <a:endParaRPr lang="en-IN" sz="2400" dirty="0"/>
          </a:p>
          <a:p>
            <a:pPr marL="342900" lvl="0" indent="-342900" algn="just">
              <a:buSzPct val="100000"/>
              <a:buFont typeface="+mj-lt"/>
              <a:buAutoNum type="arabicPeriod"/>
            </a:pPr>
            <a:r>
              <a:rPr lang="en-US" sz="2400" dirty="0"/>
              <a:t>Packet drops are recorded.</a:t>
            </a:r>
          </a:p>
          <a:p>
            <a:pPr marL="342900" lvl="0" indent="-342900" algn="just">
              <a:buSzPct val="100000"/>
              <a:buFont typeface="+mj-lt"/>
              <a:buAutoNum type="arabicPeriod"/>
            </a:pPr>
            <a:r>
              <a:rPr lang="en-US" sz="2400" dirty="0"/>
              <a:t>Go back to step 1; Stop after pre assigned iterations (1000 say)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9715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FF10811-C1A5-4E08-8940-C4233217C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Changing Transmission Power [3 channels]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25A1CC-CB79-4427-8D84-932C93E8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F80976-B0D9-4FB2-B8E5-59EC4C6BBE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6091412"/>
            <a:ext cx="11255620" cy="543823"/>
          </a:xfrm>
        </p:spPr>
        <p:txBody>
          <a:bodyPr/>
          <a:lstStyle/>
          <a:p>
            <a:r>
              <a:rPr lang="en-IN" dirty="0"/>
              <a:t>Window seats have lower </a:t>
            </a:r>
            <a:r>
              <a:rPr lang="en-IN" dirty="0" err="1"/>
              <a:t>PERs.</a:t>
            </a:r>
            <a:r>
              <a:rPr lang="en-IN" dirty="0"/>
              <a:t> As transmission power increases, PER drops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8266964-C988-4032-8B84-5CB2BBE4C37C}"/>
              </a:ext>
            </a:extLst>
          </p:cNvPr>
          <p:cNvCxnSpPr>
            <a:cxnSpLocks/>
          </p:cNvCxnSpPr>
          <p:nvPr/>
        </p:nvCxnSpPr>
        <p:spPr>
          <a:xfrm flipV="1">
            <a:off x="1020450" y="5422993"/>
            <a:ext cx="0" cy="250959"/>
          </a:xfrm>
          <a:prstGeom prst="straightConnector1">
            <a:avLst/>
          </a:prstGeom>
          <a:ln>
            <a:solidFill>
              <a:srgbClr val="002060"/>
            </a:solidFill>
            <a:headEnd w="med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A04896-8086-494A-BCB9-24866D3EAF36}"/>
              </a:ext>
            </a:extLst>
          </p:cNvPr>
          <p:cNvCxnSpPr>
            <a:cxnSpLocks/>
          </p:cNvCxnSpPr>
          <p:nvPr/>
        </p:nvCxnSpPr>
        <p:spPr>
          <a:xfrm flipV="1">
            <a:off x="4349684" y="5422993"/>
            <a:ext cx="0" cy="250959"/>
          </a:xfrm>
          <a:prstGeom prst="straightConnector1">
            <a:avLst/>
          </a:prstGeom>
          <a:ln>
            <a:solidFill>
              <a:srgbClr val="002060"/>
            </a:solidFill>
            <a:headEnd w="med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ACCE57-8648-445D-B07D-02C09A8D1765}"/>
              </a:ext>
            </a:extLst>
          </p:cNvPr>
          <p:cNvCxnSpPr>
            <a:cxnSpLocks/>
          </p:cNvCxnSpPr>
          <p:nvPr/>
        </p:nvCxnSpPr>
        <p:spPr>
          <a:xfrm flipV="1">
            <a:off x="4736182" y="5418857"/>
            <a:ext cx="0" cy="250959"/>
          </a:xfrm>
          <a:prstGeom prst="straightConnector1">
            <a:avLst/>
          </a:prstGeom>
          <a:ln>
            <a:solidFill>
              <a:srgbClr val="002060"/>
            </a:solidFill>
            <a:headEnd w="med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E46FE5-3F3C-4301-B0A9-2A7E8FB983C4}"/>
              </a:ext>
            </a:extLst>
          </p:cNvPr>
          <p:cNvCxnSpPr>
            <a:cxnSpLocks/>
          </p:cNvCxnSpPr>
          <p:nvPr/>
        </p:nvCxnSpPr>
        <p:spPr>
          <a:xfrm flipV="1">
            <a:off x="8103123" y="5418857"/>
            <a:ext cx="0" cy="250959"/>
          </a:xfrm>
          <a:prstGeom prst="straightConnector1">
            <a:avLst/>
          </a:prstGeom>
          <a:ln>
            <a:solidFill>
              <a:srgbClr val="002060"/>
            </a:solidFill>
            <a:headEnd w="med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9E57F2-A4B0-490B-B47C-A92DA4E71D50}"/>
              </a:ext>
            </a:extLst>
          </p:cNvPr>
          <p:cNvCxnSpPr>
            <a:cxnSpLocks/>
          </p:cNvCxnSpPr>
          <p:nvPr/>
        </p:nvCxnSpPr>
        <p:spPr>
          <a:xfrm flipV="1">
            <a:off x="8497477" y="5418857"/>
            <a:ext cx="0" cy="250959"/>
          </a:xfrm>
          <a:prstGeom prst="straightConnector1">
            <a:avLst/>
          </a:prstGeom>
          <a:ln>
            <a:solidFill>
              <a:srgbClr val="002060"/>
            </a:solidFill>
            <a:headEnd w="med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1C52CE-44C7-4CBE-B1BE-C51A99EC1849}"/>
              </a:ext>
            </a:extLst>
          </p:cNvPr>
          <p:cNvCxnSpPr>
            <a:cxnSpLocks/>
          </p:cNvCxnSpPr>
          <p:nvPr/>
        </p:nvCxnSpPr>
        <p:spPr>
          <a:xfrm flipV="1">
            <a:off x="11854991" y="5418856"/>
            <a:ext cx="0" cy="250959"/>
          </a:xfrm>
          <a:prstGeom prst="straightConnector1">
            <a:avLst/>
          </a:prstGeom>
          <a:ln>
            <a:solidFill>
              <a:srgbClr val="002060"/>
            </a:solidFill>
            <a:headEnd w="med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43653760-7A25-403A-92A9-3C78EB7F31B5}"/>
              </a:ext>
            </a:extLst>
          </p:cNvPr>
          <p:cNvSpPr txBox="1">
            <a:spLocks/>
          </p:cNvSpPr>
          <p:nvPr/>
        </p:nvSpPr>
        <p:spPr>
          <a:xfrm>
            <a:off x="8427565" y="5678625"/>
            <a:ext cx="3489471" cy="416210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Tx/>
              <a:buFont typeface="Arial" panose="020B0604020202020204" pitchFamily="34" charset="0"/>
              <a:buNone/>
            </a:pPr>
            <a:r>
              <a:rPr lang="en-IN" sz="2000" dirty="0">
                <a:solidFill>
                  <a:srgbClr val="002060"/>
                </a:solidFill>
              </a:rPr>
              <a:t>Window Seats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774154"/>
              </p:ext>
            </p:extLst>
          </p:nvPr>
        </p:nvGraphicFramePr>
        <p:xfrm>
          <a:off x="154412" y="728879"/>
          <a:ext cx="11880000" cy="4694114"/>
        </p:xfrm>
        <a:graphic>
          <a:graphicData uri="http://schemas.openxmlformats.org/drawingml/2006/table">
            <a:tbl>
              <a:tblPr/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7192" marR="107192" marT="53596" marB="5359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0"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Rx antenna gain: 3dBi </a:t>
                      </a:r>
                    </a:p>
                  </a:txBody>
                  <a:tcPr marL="107192" marR="107192" marT="53596" marB="5359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fontAlgn="ctr"/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7192" marR="107192" marT="53596" marB="5359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Tx power: 7 dBm</a:t>
                      </a:r>
                    </a:p>
                  </a:txBody>
                  <a:tcPr marL="107192" marR="107192" marT="53596" marB="5359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Tx power: 9 dBm</a:t>
                      </a:r>
                    </a:p>
                  </a:txBody>
                  <a:tcPr marL="107192" marR="107192" marT="53596" marB="5359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Tx power: 11 dBm</a:t>
                      </a:r>
                    </a:p>
                  </a:txBody>
                  <a:tcPr marL="107192" marR="107192" marT="53596" marB="5359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0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CF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B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9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D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0.31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B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5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4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0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0.28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F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8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A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F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0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B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0.57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B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D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B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4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0.49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5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5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F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8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5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1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0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9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D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0.55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D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5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B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7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0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0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4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E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1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8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0.68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0.65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D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0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5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F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6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7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1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D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A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8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0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2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7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0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0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4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D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B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B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7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0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5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7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B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7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9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D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4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D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2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0.82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1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C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5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9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A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8F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8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1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5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F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9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7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1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6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0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9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B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C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7D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5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D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F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0.86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D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D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F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A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A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B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8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8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2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8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E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5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5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8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9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B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4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0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7E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0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1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1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0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0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8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5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2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D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5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8F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7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8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A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7D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8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9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8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7D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7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5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0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7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A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C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7D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0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D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4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4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A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7C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E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A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D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4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C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4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9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D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A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7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0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0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7E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7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0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1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10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10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9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0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C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C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C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0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D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E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A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C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8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C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11376" marR="11376" marT="113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7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5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F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5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A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2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C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11376" marR="11376" marT="113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824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FF10811-C1A5-4E08-8940-C4233217C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Changing Receiver Antenna Gain [3 channels]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25A1CC-CB79-4427-8D84-932C93E8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F80976-B0D9-4FB2-B8E5-59EC4C6BBE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6091412"/>
            <a:ext cx="11463010" cy="543823"/>
          </a:xfrm>
        </p:spPr>
        <p:txBody>
          <a:bodyPr/>
          <a:lstStyle/>
          <a:p>
            <a:r>
              <a:rPr lang="en-IN" dirty="0"/>
              <a:t>Window seats have lower </a:t>
            </a:r>
            <a:r>
              <a:rPr lang="en-IN" dirty="0" err="1"/>
              <a:t>PERs.</a:t>
            </a:r>
            <a:r>
              <a:rPr lang="en-IN" dirty="0"/>
              <a:t> As receiver antenna gain increases, PER drops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8266964-C988-4032-8B84-5CB2BBE4C37C}"/>
              </a:ext>
            </a:extLst>
          </p:cNvPr>
          <p:cNvCxnSpPr>
            <a:cxnSpLocks/>
          </p:cNvCxnSpPr>
          <p:nvPr/>
        </p:nvCxnSpPr>
        <p:spPr>
          <a:xfrm flipV="1">
            <a:off x="1020450" y="5300446"/>
            <a:ext cx="0" cy="250959"/>
          </a:xfrm>
          <a:prstGeom prst="straightConnector1">
            <a:avLst/>
          </a:prstGeom>
          <a:ln>
            <a:solidFill>
              <a:srgbClr val="002060"/>
            </a:solidFill>
            <a:headEnd w="med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A04896-8086-494A-BCB9-24866D3EAF36}"/>
              </a:ext>
            </a:extLst>
          </p:cNvPr>
          <p:cNvCxnSpPr>
            <a:cxnSpLocks/>
          </p:cNvCxnSpPr>
          <p:nvPr/>
        </p:nvCxnSpPr>
        <p:spPr>
          <a:xfrm flipV="1">
            <a:off x="4349684" y="5300446"/>
            <a:ext cx="0" cy="250959"/>
          </a:xfrm>
          <a:prstGeom prst="straightConnector1">
            <a:avLst/>
          </a:prstGeom>
          <a:ln>
            <a:solidFill>
              <a:srgbClr val="002060"/>
            </a:solidFill>
            <a:headEnd w="med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ACCE57-8648-445D-B07D-02C09A8D1765}"/>
              </a:ext>
            </a:extLst>
          </p:cNvPr>
          <p:cNvCxnSpPr>
            <a:cxnSpLocks/>
          </p:cNvCxnSpPr>
          <p:nvPr/>
        </p:nvCxnSpPr>
        <p:spPr>
          <a:xfrm flipV="1">
            <a:off x="4736182" y="5296310"/>
            <a:ext cx="0" cy="250959"/>
          </a:xfrm>
          <a:prstGeom prst="straightConnector1">
            <a:avLst/>
          </a:prstGeom>
          <a:ln>
            <a:solidFill>
              <a:srgbClr val="002060"/>
            </a:solidFill>
            <a:headEnd w="med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E46FE5-3F3C-4301-B0A9-2A7E8FB983C4}"/>
              </a:ext>
            </a:extLst>
          </p:cNvPr>
          <p:cNvCxnSpPr>
            <a:cxnSpLocks/>
          </p:cNvCxnSpPr>
          <p:nvPr/>
        </p:nvCxnSpPr>
        <p:spPr>
          <a:xfrm flipV="1">
            <a:off x="8103123" y="5296310"/>
            <a:ext cx="0" cy="250959"/>
          </a:xfrm>
          <a:prstGeom prst="straightConnector1">
            <a:avLst/>
          </a:prstGeom>
          <a:ln>
            <a:solidFill>
              <a:srgbClr val="002060"/>
            </a:solidFill>
            <a:headEnd w="med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9E57F2-A4B0-490B-B47C-A92DA4E71D50}"/>
              </a:ext>
            </a:extLst>
          </p:cNvPr>
          <p:cNvCxnSpPr>
            <a:cxnSpLocks/>
          </p:cNvCxnSpPr>
          <p:nvPr/>
        </p:nvCxnSpPr>
        <p:spPr>
          <a:xfrm flipV="1">
            <a:off x="8497477" y="5296310"/>
            <a:ext cx="0" cy="250959"/>
          </a:xfrm>
          <a:prstGeom prst="straightConnector1">
            <a:avLst/>
          </a:prstGeom>
          <a:ln>
            <a:solidFill>
              <a:srgbClr val="002060"/>
            </a:solidFill>
            <a:headEnd w="med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1C52CE-44C7-4CBE-B1BE-C51A99EC1849}"/>
              </a:ext>
            </a:extLst>
          </p:cNvPr>
          <p:cNvCxnSpPr>
            <a:cxnSpLocks/>
          </p:cNvCxnSpPr>
          <p:nvPr/>
        </p:nvCxnSpPr>
        <p:spPr>
          <a:xfrm flipV="1">
            <a:off x="11854991" y="5296309"/>
            <a:ext cx="0" cy="250959"/>
          </a:xfrm>
          <a:prstGeom prst="straightConnector1">
            <a:avLst/>
          </a:prstGeom>
          <a:ln>
            <a:solidFill>
              <a:srgbClr val="002060"/>
            </a:solidFill>
            <a:headEnd w="med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43653760-7A25-403A-92A9-3C78EB7F31B5}"/>
              </a:ext>
            </a:extLst>
          </p:cNvPr>
          <p:cNvSpPr txBox="1">
            <a:spLocks/>
          </p:cNvSpPr>
          <p:nvPr/>
        </p:nvSpPr>
        <p:spPr>
          <a:xfrm>
            <a:off x="8427565" y="5556078"/>
            <a:ext cx="3489471" cy="416210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Tx/>
              <a:buFont typeface="Arial" panose="020B0604020202020204" pitchFamily="34" charset="0"/>
              <a:buNone/>
            </a:pPr>
            <a:r>
              <a:rPr lang="en-IN" sz="2000" dirty="0">
                <a:solidFill>
                  <a:srgbClr val="002060"/>
                </a:solidFill>
              </a:rPr>
              <a:t>Window Seats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C5C50F0-B0CD-4DCE-9A8F-CA4D97C5E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873705"/>
              </p:ext>
            </p:extLst>
          </p:nvPr>
        </p:nvGraphicFramePr>
        <p:xfrm>
          <a:off x="168503" y="772592"/>
          <a:ext cx="11880000" cy="4516158"/>
        </p:xfrm>
        <a:graphic>
          <a:graphicData uri="http://schemas.openxmlformats.org/drawingml/2006/table">
            <a:tbl>
              <a:tblPr/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374400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</a:tblGrid>
              <a:tr h="20133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445" marR="7445" marT="744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0"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Tx power:11 dBm 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39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Rx antenna gain: 3 dBi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Rx antenna gain: 6 dBi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Rx antenna gain: 9 dBi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1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0.28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F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8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A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F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7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0.21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C4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7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C7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6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B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6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C8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C2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0.09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C1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8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BF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2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C4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C6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C2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C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2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0.49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5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5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F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8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5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0.28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9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0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7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0.21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C5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5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8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A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CB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CD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CF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2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5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5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B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E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5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4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E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9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CA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A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E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B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D0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C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A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0.65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D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5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0.39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0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8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8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A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8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6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1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0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B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7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5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0.54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9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B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C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5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5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F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9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7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1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0.64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F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1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0.65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B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3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8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E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5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5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8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9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B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4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0.72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0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0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4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A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7D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8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9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8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7D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7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5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2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0.82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B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9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D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4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B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9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0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0.78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9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3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C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2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4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9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D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A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7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0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0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7E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7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0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1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0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9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4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1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E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E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0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8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A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F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9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C7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1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4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MCS 10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7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5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F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5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A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2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C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B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C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C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9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0.98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A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9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2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7C6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6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7445" marR="7445" marT="74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B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7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7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1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6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3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0.93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A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7445" marR="7445" marT="74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3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93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3431357" y="726121"/>
            <a:ext cx="8688099" cy="6078070"/>
          </a:xfrm>
          <a:prstGeom prst="rect">
            <a:avLst/>
          </a:prstGeom>
          <a:solidFill>
            <a:srgbClr val="F8F9FA">
              <a:alpha val="3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746" y="0"/>
            <a:ext cx="11139117" cy="607812"/>
          </a:xfrm>
        </p:spPr>
        <p:txBody>
          <a:bodyPr>
            <a:noAutofit/>
          </a:bodyPr>
          <a:lstStyle/>
          <a:p>
            <a:r>
              <a:rPr lang="en-US" sz="3200" b="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2: AP Channel Allocation– Distributed algorithm</a:t>
            </a:r>
            <a:endParaRPr lang="en-US" sz="3200" b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4893" y="920473"/>
            <a:ext cx="2691025" cy="5132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u="sng" dirty="0"/>
              <a:t>Objective:</a:t>
            </a:r>
          </a:p>
          <a:p>
            <a:pPr marL="285750" indent="-285750" algn="just">
              <a:spcBef>
                <a:spcPts val="600"/>
              </a:spcBef>
              <a:buFont typeface="Arial" pitchFamily="34" charset="0"/>
              <a:buChar char="•"/>
            </a:pPr>
            <a:endParaRPr lang="en-IN" sz="2000" dirty="0"/>
          </a:p>
          <a:p>
            <a:pPr marL="228600" indent="-228600">
              <a:spcBef>
                <a:spcPts val="9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IN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59 non overlapping 20MHz channels are used to simulate the events inside the cabin.</a:t>
            </a:r>
          </a:p>
          <a:p>
            <a:pPr marL="228600" indent="-228600">
              <a:spcBef>
                <a:spcPts val="900"/>
              </a:spcBef>
              <a:buSzPct val="125000"/>
              <a:buFont typeface="Arial" panose="020B0604020202020204" pitchFamily="34" charset="0"/>
              <a:buChar char="•"/>
            </a:pPr>
            <a:endParaRPr lang="en-IN" sz="200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indent="-228600">
              <a:spcBef>
                <a:spcPts val="9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IN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 the Wi-Fi nodes are active simultaneously and we aim for a channel matrix which gives the lowest PER.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26180" y="812625"/>
            <a:ext cx="1864832" cy="318782"/>
          </a:xfrm>
          <a:prstGeom prst="roundRect">
            <a:avLst/>
          </a:prstGeom>
          <a:solidFill>
            <a:srgbClr val="F8F9FA">
              <a:alpha val="30000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6">
                    <a:lumMod val="50000"/>
                  </a:schemeClr>
                </a:solidFill>
              </a:rPr>
              <a:t>Simulation Starts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0113" y="1340757"/>
            <a:ext cx="3996965" cy="671494"/>
          </a:xfrm>
          <a:prstGeom prst="rect">
            <a:avLst/>
          </a:prstGeom>
          <a:solidFill>
            <a:srgbClr val="F8F9FA">
              <a:alpha val="30000"/>
            </a:srgb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All seats are allocated channels randomly.</a:t>
            </a:r>
          </a:p>
          <a:p>
            <a:pPr algn="ctr"/>
            <a:r>
              <a:rPr lang="en-IN" sz="1600" dirty="0"/>
              <a:t>Flag counter= number of seats</a:t>
            </a:r>
          </a:p>
          <a:p>
            <a:pPr algn="ctr"/>
            <a:r>
              <a:rPr lang="en-IN" sz="1600" dirty="0"/>
              <a:t>Channel matrix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71173" y="2270914"/>
            <a:ext cx="2174846" cy="420846"/>
          </a:xfrm>
          <a:prstGeom prst="rect">
            <a:avLst/>
          </a:prstGeom>
          <a:solidFill>
            <a:srgbClr val="F8F9FA">
              <a:alpha val="30000"/>
            </a:srgb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SINR calculated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8443" y="2837006"/>
            <a:ext cx="2740302" cy="688432"/>
          </a:xfrm>
          <a:prstGeom prst="rect">
            <a:avLst/>
          </a:prstGeom>
          <a:solidFill>
            <a:srgbClr val="F8F9FA">
              <a:alpha val="30000"/>
            </a:srgb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Seats experiencing SINR greater than 25db raise a flag</a:t>
            </a:r>
          </a:p>
        </p:txBody>
      </p:sp>
      <p:sp>
        <p:nvSpPr>
          <p:cNvPr id="8" name="Diamond 7"/>
          <p:cNvSpPr/>
          <p:nvPr/>
        </p:nvSpPr>
        <p:spPr>
          <a:xfrm>
            <a:off x="6648335" y="3707851"/>
            <a:ext cx="2603122" cy="902126"/>
          </a:xfrm>
          <a:prstGeom prst="diamond">
            <a:avLst/>
          </a:prstGeom>
          <a:solidFill>
            <a:srgbClr val="F8F9FA">
              <a:alpha val="3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IN" sz="1600" dirty="0"/>
              <a:t>Number of raised flags==0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9356" y="3774640"/>
            <a:ext cx="2087139" cy="766183"/>
          </a:xfrm>
          <a:prstGeom prst="rect">
            <a:avLst/>
          </a:prstGeom>
          <a:solidFill>
            <a:srgbClr val="F8F9FA">
              <a:alpha val="30000"/>
            </a:srgb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Channel matrix is calibrated and used for PER calculation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79828" y="4909123"/>
            <a:ext cx="1687071" cy="770741"/>
          </a:xfrm>
          <a:prstGeom prst="rect">
            <a:avLst/>
          </a:prstGeom>
          <a:solidFill>
            <a:srgbClr val="F8F9FA">
              <a:alpha val="30000"/>
            </a:srgb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Random channel is allocated to each flagged seat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5822" y="6056463"/>
            <a:ext cx="2459706" cy="663493"/>
          </a:xfrm>
          <a:prstGeom prst="rect">
            <a:avLst/>
          </a:prstGeom>
          <a:solidFill>
            <a:srgbClr val="F8F9FA">
              <a:alpha val="30000"/>
            </a:srgb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Flag counter= number of raised flags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Channel matrix updated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0510" y="4826754"/>
            <a:ext cx="1864832" cy="318782"/>
          </a:xfrm>
          <a:prstGeom prst="roundRect">
            <a:avLst/>
          </a:prstGeom>
          <a:solidFill>
            <a:srgbClr val="F8F9FA">
              <a:alpha val="30000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6">
                    <a:lumMod val="50000"/>
                  </a:schemeClr>
                </a:solidFill>
              </a:rPr>
              <a:t>Simulation Ends</a:t>
            </a:r>
          </a:p>
        </p:txBody>
      </p:sp>
      <p:cxnSp>
        <p:nvCxnSpPr>
          <p:cNvPr id="13" name="Straight Arrow Connector 12"/>
          <p:cNvCxnSpPr>
            <a:cxnSpLocks/>
            <a:stCxn id="4" idx="2"/>
            <a:endCxn id="5" idx="0"/>
          </p:cNvCxnSpPr>
          <p:nvPr/>
        </p:nvCxnSpPr>
        <p:spPr>
          <a:xfrm>
            <a:off x="7958596" y="1131407"/>
            <a:ext cx="0" cy="20935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  <a:stCxn id="5" idx="2"/>
            <a:endCxn id="6" idx="0"/>
          </p:cNvCxnSpPr>
          <p:nvPr/>
        </p:nvCxnSpPr>
        <p:spPr>
          <a:xfrm>
            <a:off x="7958596" y="2012251"/>
            <a:ext cx="0" cy="25866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  <a:stCxn id="6" idx="2"/>
            <a:endCxn id="7" idx="0"/>
          </p:cNvCxnSpPr>
          <p:nvPr/>
        </p:nvCxnSpPr>
        <p:spPr>
          <a:xfrm flipH="1">
            <a:off x="7958594" y="2691760"/>
            <a:ext cx="2" cy="14524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cxnSpLocks/>
            <a:stCxn id="7" idx="2"/>
            <a:endCxn id="8" idx="0"/>
          </p:cNvCxnSpPr>
          <p:nvPr/>
        </p:nvCxnSpPr>
        <p:spPr>
          <a:xfrm flipH="1">
            <a:off x="7949896" y="3525438"/>
            <a:ext cx="8698" cy="18241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6648335" y="4805781"/>
            <a:ext cx="2603122" cy="978924"/>
          </a:xfrm>
          <a:prstGeom prst="diamond">
            <a:avLst/>
          </a:prstGeom>
          <a:solidFill>
            <a:srgbClr val="F8F9FA">
              <a:alpha val="3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IN" sz="1600" dirty="0"/>
              <a:t>Number of raised flags &lt; Flag counter</a:t>
            </a:r>
          </a:p>
        </p:txBody>
      </p:sp>
      <p:cxnSp>
        <p:nvCxnSpPr>
          <p:cNvPr id="19" name="Straight Arrow Connector 18"/>
          <p:cNvCxnSpPr>
            <a:cxnSpLocks/>
            <a:stCxn id="8" idx="2"/>
            <a:endCxn id="18" idx="0"/>
          </p:cNvCxnSpPr>
          <p:nvPr/>
        </p:nvCxnSpPr>
        <p:spPr>
          <a:xfrm>
            <a:off x="7949896" y="4609977"/>
            <a:ext cx="0" cy="19580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  <a:stCxn id="18" idx="3"/>
            <a:endCxn id="10" idx="1"/>
          </p:cNvCxnSpPr>
          <p:nvPr/>
        </p:nvCxnSpPr>
        <p:spPr>
          <a:xfrm flipV="1">
            <a:off x="9251457" y="5294494"/>
            <a:ext cx="528371" cy="74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  <a:stCxn id="9" idx="2"/>
            <a:endCxn id="12" idx="0"/>
          </p:cNvCxnSpPr>
          <p:nvPr/>
        </p:nvCxnSpPr>
        <p:spPr>
          <a:xfrm>
            <a:off x="5132926" y="4540823"/>
            <a:ext cx="0" cy="2859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  <a:stCxn id="18" idx="2"/>
            <a:endCxn id="11" idx="0"/>
          </p:cNvCxnSpPr>
          <p:nvPr/>
        </p:nvCxnSpPr>
        <p:spPr>
          <a:xfrm>
            <a:off x="7949896" y="5784705"/>
            <a:ext cx="5779" cy="27175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cxnSpLocks/>
            <a:stCxn id="11" idx="3"/>
            <a:endCxn id="10" idx="2"/>
          </p:cNvCxnSpPr>
          <p:nvPr/>
        </p:nvCxnSpPr>
        <p:spPr>
          <a:xfrm flipV="1">
            <a:off x="9185528" y="5679864"/>
            <a:ext cx="1437836" cy="708346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85528" y="4977582"/>
            <a:ext cx="500137" cy="246221"/>
          </a:xfrm>
          <a:prstGeom prst="rect">
            <a:avLst/>
          </a:prstGeom>
          <a:solidFill>
            <a:srgbClr val="F8F9FA">
              <a:alpha val="30000"/>
            </a:srgbClr>
          </a:solidFill>
        </p:spPr>
        <p:txBody>
          <a:bodyPr wrap="non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600"/>
            </a:lvl1pPr>
          </a:lstStyle>
          <a:p>
            <a:r>
              <a:rPr lang="en-IN" dirty="0"/>
              <a:t>False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0115" y="4597029"/>
            <a:ext cx="500137" cy="246221"/>
          </a:xfrm>
          <a:prstGeom prst="rect">
            <a:avLst/>
          </a:prstGeom>
          <a:solidFill>
            <a:srgbClr val="F8F9FA">
              <a:alpha val="30000"/>
            </a:srgbClr>
          </a:solidFill>
        </p:spPr>
        <p:txBody>
          <a:bodyPr wrap="non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600"/>
            </a:lvl1pPr>
          </a:lstStyle>
          <a:p>
            <a:r>
              <a:rPr lang="en-IN" dirty="0"/>
              <a:t>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5389" y="5779801"/>
            <a:ext cx="421590" cy="246221"/>
          </a:xfrm>
          <a:prstGeom prst="rect">
            <a:avLst/>
          </a:prstGeom>
          <a:solidFill>
            <a:srgbClr val="F8F9FA">
              <a:alpha val="30000"/>
            </a:srgbClr>
          </a:solidFill>
        </p:spPr>
        <p:txBody>
          <a:bodyPr wrap="non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600"/>
            </a:lvl1pPr>
          </a:lstStyle>
          <a:p>
            <a:r>
              <a:rPr lang="en-IN" dirty="0"/>
              <a:t>True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8170" y="5970073"/>
            <a:ext cx="2223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accent1"/>
                </a:solidFill>
              </a:rPr>
              <a:t>Flag counter</a:t>
            </a:r>
            <a:r>
              <a:rPr lang="en-IN" sz="1200" dirty="0">
                <a:solidFill>
                  <a:schemeClr val="accent1"/>
                </a:solidFill>
              </a:rPr>
              <a:t> denotes the total number of seats that have to be assigned a channel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9460" y="4261335"/>
            <a:ext cx="421590" cy="246221"/>
          </a:xfrm>
          <a:prstGeom prst="rect">
            <a:avLst/>
          </a:prstGeom>
          <a:solidFill>
            <a:srgbClr val="F8F9FA">
              <a:alpha val="30000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IN" sz="1600" dirty="0"/>
              <a:t>True</a:t>
            </a:r>
          </a:p>
        </p:txBody>
      </p:sp>
      <p:cxnSp>
        <p:nvCxnSpPr>
          <p:cNvPr id="17" name="Straight Arrow Connector 16"/>
          <p:cNvCxnSpPr>
            <a:cxnSpLocks/>
            <a:stCxn id="8" idx="1"/>
            <a:endCxn id="9" idx="3"/>
          </p:cNvCxnSpPr>
          <p:nvPr/>
        </p:nvCxnSpPr>
        <p:spPr>
          <a:xfrm flipH="1" flipV="1">
            <a:off x="6176495" y="4157732"/>
            <a:ext cx="471840" cy="118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cxnSpLocks/>
            <a:stCxn id="10" idx="0"/>
            <a:endCxn id="6" idx="3"/>
          </p:cNvCxnSpPr>
          <p:nvPr/>
        </p:nvCxnSpPr>
        <p:spPr>
          <a:xfrm rot="16200000" flipV="1">
            <a:off x="8620799" y="2906557"/>
            <a:ext cx="2427786" cy="157734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99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25FFAC-13F5-401B-8AC6-5F7EBA36E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5B7E563-09C2-4A70-9D93-4747A5712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1"/>
            <a:ext cx="11278117" cy="681036"/>
          </a:xfrm>
        </p:spPr>
        <p:txBody>
          <a:bodyPr/>
          <a:lstStyle/>
          <a:p>
            <a:r>
              <a:rPr lang="en-IN" b="0" dirty="0"/>
              <a:t>Extending the simulation to 400 seats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5340" y="6482647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Channel Matrix</a:t>
            </a:r>
            <a:endParaRPr lang="en-IN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-54617" y="3085817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Rows</a:t>
            </a:r>
            <a:endParaRPr lang="en-IN" dirty="0"/>
          </a:p>
        </p:txBody>
      </p:sp>
      <p:cxnSp>
        <p:nvCxnSpPr>
          <p:cNvPr id="10" name="Straight Arrow Connector 9"/>
          <p:cNvCxnSpPr>
            <a:cxnSpLocks/>
          </p:cNvCxnSpPr>
          <p:nvPr/>
        </p:nvCxnSpPr>
        <p:spPr>
          <a:xfrm>
            <a:off x="501583" y="763833"/>
            <a:ext cx="0" cy="5718814"/>
          </a:xfrm>
          <a:prstGeom prst="straightConnector1">
            <a:avLst/>
          </a:prstGeom>
          <a:ln w="19050">
            <a:tailEnd type="arrow"/>
          </a:ln>
          <a:effectLst>
            <a:glow rad="254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90922" y="5675609"/>
            <a:ext cx="194320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MCS: 4</a:t>
            </a:r>
          </a:p>
          <a:p>
            <a:r>
              <a:rPr lang="en-US" sz="1600" dirty="0"/>
              <a:t>Tx power: 7 dBm</a:t>
            </a:r>
          </a:p>
          <a:p>
            <a:r>
              <a:rPr lang="en-US" sz="1600" dirty="0"/>
              <a:t>Rx gain: 3 dBi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537228"/>
              </p:ext>
            </p:extLst>
          </p:nvPr>
        </p:nvGraphicFramePr>
        <p:xfrm>
          <a:off x="4460256" y="782846"/>
          <a:ext cx="3677700" cy="5728440"/>
        </p:xfrm>
        <a:graphic>
          <a:graphicData uri="http://schemas.openxmlformats.org/drawingml/2006/table">
            <a:tbl>
              <a:tblPr/>
              <a:tblGrid>
                <a:gridCol w="367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7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7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7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7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7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7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42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 dirty="0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6051" marR="6051" marT="6051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773446" y="6482648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Packet error rate per seat</a:t>
            </a:r>
            <a:endParaRPr lang="en-IN" sz="1800" dirty="0"/>
          </a:p>
        </p:txBody>
      </p:sp>
      <p:sp>
        <p:nvSpPr>
          <p:cNvPr id="13" name="Rectangle 12"/>
          <p:cNvSpPr/>
          <p:nvPr/>
        </p:nvSpPr>
        <p:spPr>
          <a:xfrm>
            <a:off x="8241065" y="868100"/>
            <a:ext cx="3827561" cy="48075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900"/>
              </a:spcBef>
              <a:buSzPct val="125000"/>
            </a:pPr>
            <a:r>
              <a:rPr 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Takeaway:  Channel allocation converges to PER 0 across all 400 seats</a:t>
            </a:r>
          </a:p>
          <a:p>
            <a:pPr marL="228600" indent="-228600">
              <a:spcBef>
                <a:spcPts val="9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IN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With independent access points, the channel allocation procedure will repeat every time the usage scenario changes.</a:t>
            </a:r>
          </a:p>
          <a:p>
            <a:pPr marL="228600" indent="-228600">
              <a:spcBef>
                <a:spcPts val="9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IN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By using WLAN controllers the allocation procedure will need to run only once as after that, all the APs can be set to suitable channels.</a:t>
            </a:r>
          </a:p>
          <a:p>
            <a:pPr marL="228600" indent="-228600">
              <a:spcBef>
                <a:spcPts val="9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IN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Virtual WLAN controllers like OpenWISP, </a:t>
            </a:r>
            <a:r>
              <a:rPr lang="en-IN" sz="16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Chillispot</a:t>
            </a:r>
            <a:r>
              <a:rPr lang="en-IN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could be used to automate several aspects of network deployment and management.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947300"/>
              </p:ext>
            </p:extLst>
          </p:nvPr>
        </p:nvGraphicFramePr>
        <p:xfrm>
          <a:off x="639319" y="782846"/>
          <a:ext cx="3680120" cy="5723760"/>
        </p:xfrm>
        <a:graphic>
          <a:graphicData uri="http://schemas.openxmlformats.org/drawingml/2006/table">
            <a:tbl>
              <a:tblPr/>
              <a:tblGrid>
                <a:gridCol w="368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80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8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80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80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7D9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DC8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CE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2C48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DCF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C3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2D1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9E7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7E0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F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FD0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2D7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E0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DC2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E8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E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C5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DE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D6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EA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DF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CA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C8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D9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E5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ED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C7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7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F0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AE1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E6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8C6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DB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7D3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C1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E4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C5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E9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DD5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D6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ACE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D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E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ACE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DF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5CB9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C99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FDD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D2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F0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AE1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6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4D8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D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CF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ED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DC2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7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E8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E6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8C6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C7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C1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5BF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C5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7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1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6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E4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CC9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E5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E5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5BF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ADA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8C0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EA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DE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E0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E6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C8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D6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DB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C3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E8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DF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FD0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DD5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7D3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E4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D2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C99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CA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CE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1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FDD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8C6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FD0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E0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D9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DD5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2D7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5BF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CC9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ADA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5CB9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C5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8C6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ADA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6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CF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5CB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CE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E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7D3A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DF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E4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AE1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C3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C7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E5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CA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1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D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FD0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E5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E6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CC9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2D7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C1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E8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E0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D6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B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E3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E4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C7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DD5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E6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DE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C8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DF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ADA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C5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2505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ED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C99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7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E9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EA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4D8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ED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DC2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CF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8C6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6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E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7D3A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DB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6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CA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E6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4D8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CC9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E5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1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E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5BF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5CB9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1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DE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DC2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ADA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D9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CE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F0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FDD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FD0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DB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1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8C0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C5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E5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C5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CF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D2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D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48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EA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E0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E4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CC9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C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C3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E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D6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E8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AE1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7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C1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E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E6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ADA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DD5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B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F0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ADA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ACE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C3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6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8C6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8C6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1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C8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DB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2D7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EA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DE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7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D9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FDD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1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DC2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E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D6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DC2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C1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5CB9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E0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DF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FD0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8C0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5BF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7D3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C5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ED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C99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CC9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E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C3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C7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48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C1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E4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AE1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E8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CA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1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8C6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E5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D9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E9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D2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CF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C3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5BF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F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E4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DD5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48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B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C7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8C0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C1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C5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F0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C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1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DB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E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CE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E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C99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DE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D2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FDD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D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48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DC2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ADA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ED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2D7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7D3A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6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CC9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4D8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E6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E9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E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FD0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E5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D6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C1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DF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8C6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5BF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1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C3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E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7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DD5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CF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1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DB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E8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7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DC2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C7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5BF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E4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ED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CA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8C0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7D3A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D9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C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424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</a:t>
                      </a:r>
                    </a:p>
                  </a:txBody>
                  <a:tcPr marL="5934" marR="5934" marT="59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A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B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E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9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C7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D4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</a:t>
                      </a:r>
                    </a:p>
                  </a:txBody>
                  <a:tcPr marL="5934" marR="5934" marT="5934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72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EA26DCBAAC9F48AF30CA6DD4D31201" ma:contentTypeVersion="4" ma:contentTypeDescription="Create a new document." ma:contentTypeScope="" ma:versionID="bb9b23823c7f02287cb769ad97f741f8">
  <xsd:schema xmlns:xsd="http://www.w3.org/2001/XMLSchema" xmlns:xs="http://www.w3.org/2001/XMLSchema" xmlns:p="http://schemas.microsoft.com/office/2006/metadata/properties" xmlns:ns2="c733f194-bd70-4a0f-9ffc-74e7c628a5fe" targetNamespace="http://schemas.microsoft.com/office/2006/metadata/properties" ma:root="true" ma:fieldsID="770d03e52529ad2e39483dc192f903bf" ns2:_="">
    <xsd:import namespace="c733f194-bd70-4a0f-9ffc-74e7c628a5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33f194-bd70-4a0f-9ffc-74e7c628a5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CB22A0-A69D-4C37-AA9A-F84AF02348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33f194-bd70-4a0f-9ffc-74e7c628a5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0B67D31-111B-4DAE-96DE-4B29B914F3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7F921E-779A-41A6-8770-1188986E0BAC}">
  <ds:schemaRefs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c733f194-bd70-4a0f-9ffc-74e7c628a5fe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4567</TotalTime>
  <Words>2528</Words>
  <Application>Microsoft Office PowerPoint</Application>
  <PresentationFormat>Custom</PresentationFormat>
  <Paragraphs>1591</Paragraphs>
  <Slides>12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Courier New</vt:lpstr>
      <vt:lpstr>Times New Roman</vt:lpstr>
      <vt:lpstr>Wingdings</vt:lpstr>
      <vt:lpstr>Custom Design</vt:lpstr>
      <vt:lpstr>1_Custom Design</vt:lpstr>
      <vt:lpstr>2_Custom Design</vt:lpstr>
      <vt:lpstr>Problem Statement</vt:lpstr>
      <vt:lpstr>802.11ad – Wi-Gig</vt:lpstr>
      <vt:lpstr>PowerPoint Presentation</vt:lpstr>
      <vt:lpstr>PowerPoint Presentation</vt:lpstr>
      <vt:lpstr>802.11ax - Wi-Fi 6E</vt:lpstr>
      <vt:lpstr>Simulations for choice of Phone Transmission Power</vt:lpstr>
      <vt:lpstr>Tx-Rx Link and Interference</vt:lpstr>
      <vt:lpstr>Simulation 1: PER estimation</vt:lpstr>
      <vt:lpstr>Changing Transmission Power [3 channels]</vt:lpstr>
      <vt:lpstr>Changing Receiver Antenna Gain [3 channels]</vt:lpstr>
      <vt:lpstr>Simulation 2: AP Channel Allocation– Distributed algorithm</vt:lpstr>
      <vt:lpstr>Extending the simulation to 400 seats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Casting Slide Deck</dc:title>
  <dc:creator>Nithish</dc:creator>
  <cp:lastModifiedBy>Nithish K Gnani</cp:lastModifiedBy>
  <cp:revision>279</cp:revision>
  <dcterms:created xsi:type="dcterms:W3CDTF">2018-03-19T06:11:25Z</dcterms:created>
  <dcterms:modified xsi:type="dcterms:W3CDTF">2023-08-15T09:04:35Z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0x0101001FEA26DCBAAC9F48AF30CA6DD4D31201</vt:lpwstr>
  </property>
  <property fmtid="{D5CDD505-2E9C-101B-9397-08002B2CF9AE}" pid="3" name="Order">
    <vt:r8>74067400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SIP_Label_f42aa342-8706-4288-bd11-ebb85995028c_Enabled">
    <vt:lpwstr>True</vt:lpwstr>
  </property>
  <property fmtid="{D5CDD505-2E9C-101B-9397-08002B2CF9AE}" pid="13" name="MSIP_Label_f42aa342-8706-4288-bd11-ebb85995028c_SiteId">
    <vt:lpwstr>72f988bf-86f1-41af-91ab-2d7cd011db47</vt:lpwstr>
  </property>
  <property fmtid="{D5CDD505-2E9C-101B-9397-08002B2CF9AE}" pid="14" name="MSIP_Label_f42aa342-8706-4288-bd11-ebb85995028c_Owner">
    <vt:lpwstr>v-asharm@microsoft.com</vt:lpwstr>
  </property>
  <property fmtid="{D5CDD505-2E9C-101B-9397-08002B2CF9AE}" pid="15" name="MSIP_Label_f42aa342-8706-4288-bd11-ebb85995028c_SetDate">
    <vt:lpwstr>2017-11-17T04:13:46.1587428Z</vt:lpwstr>
  </property>
  <property fmtid="{D5CDD505-2E9C-101B-9397-08002B2CF9AE}" pid="16" name="MSIP_Label_f42aa342-8706-4288-bd11-ebb85995028c_Name">
    <vt:lpwstr>General</vt:lpwstr>
  </property>
  <property fmtid="{D5CDD505-2E9C-101B-9397-08002B2CF9AE}" pid="17" name="MSIP_Label_f42aa342-8706-4288-bd11-ebb85995028c_Application">
    <vt:lpwstr>Microsoft Azure Information Protection</vt:lpwstr>
  </property>
  <property fmtid="{D5CDD505-2E9C-101B-9397-08002B2CF9AE}" pid="18" name="MSIP_Label_f42aa342-8706-4288-bd11-ebb85995028c_Extended_MSFT_Method">
    <vt:lpwstr>Automatic</vt:lpwstr>
  </property>
  <property fmtid="{D5CDD505-2E9C-101B-9397-08002B2CF9AE}" pid="19" name="Sensitivity">
    <vt:lpwstr>General</vt:lpwstr>
  </property>
  <property fmtid="{D5CDD505-2E9C-101B-9397-08002B2CF9AE}" pid="20" name="TitusGUID">
    <vt:lpwstr>b0fc9bd4-a695-457a-82e6-844be78b8759</vt:lpwstr>
  </property>
  <property fmtid="{D5CDD505-2E9C-101B-9397-08002B2CF9AE}" pid="21" name="HCLClassification">
    <vt:lpwstr>HCL_Cla5s_1nt3rnal</vt:lpwstr>
  </property>
  <property fmtid="{D5CDD505-2E9C-101B-9397-08002B2CF9AE}" pid="22" name="HCL_Cla5s_D6">
    <vt:lpwstr>False</vt:lpwstr>
  </property>
  <property fmtid="{D5CDD505-2E9C-101B-9397-08002B2CF9AE}" pid="23" name="HCLClassD6">
    <vt:lpwstr>False</vt:lpwstr>
  </property>
</Properties>
</file>