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91DDA9-487B-6530-E800-39AECA06860B}" v="99" dt="2023-07-17T05:09:51.0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42EDD-AF2E-FA4C-5391-517EE3BDD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80F18-D12E-2CE4-D294-5E24141C8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6FF54-F703-654F-1D3F-3D9FA1DF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99E2C-4C05-4463-8AFD-B9B3FB00448F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F41F0-4B4F-4F67-D88F-612196033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B0BBC-4065-BD3D-2054-18D8B885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563D-64CC-45DD-956A-FBDFD9B9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65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5D97-DF05-C774-CADD-FD42C1A46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CD807-85AF-F989-E0F2-B9EE5F34B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1C541-C3BF-793C-D1BB-2E5E73EBA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99E2C-4C05-4463-8AFD-B9B3FB00448F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F9929-0E8E-69EB-BB48-225581C9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BB9EA-59EF-5BBD-1AF8-BE833F15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563D-64CC-45DD-956A-FBDFD9B9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7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8492A-5373-D781-6550-C2831A39C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99FA2-E5B5-9ACA-84E6-E6B487C85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CA7EE-4C68-6B4C-7A8E-F2F4CF4FF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99E2C-4C05-4463-8AFD-B9B3FB00448F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9E258-6575-A1C7-CF08-52E52CED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17F27-026F-DE22-2F6E-71015DBD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563D-64CC-45DD-956A-FBDFD9B9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8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61F2-85C7-BB9F-82B9-3329547FC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FEDF5-6629-B07E-171E-BCC1A2980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B66C4-54DE-6C11-B7F6-13767EAB9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72A9D-481B-2FA1-8C01-8595AD745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99E2C-4C05-4463-8AFD-B9B3FB00448F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2EBDB-72CA-BF7E-D87A-226667D29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1A6F9-1199-9D47-81F7-36ABC453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563D-64CC-45DD-956A-FBDFD9B9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3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354F-DDE8-B82B-E7DD-A25DF21F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03279-DD9F-56F1-FE25-934FEEAD4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3E126-425D-2D2A-8B2D-E88F6434C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62953-EECC-55F5-0127-FD89DA833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AF8CE-3E96-5219-2D07-F3E9AD7B57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803499-B440-FD5F-060A-3E25D1432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99E2C-4C05-4463-8AFD-B9B3FB00448F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4DD5C6-3217-3E90-8143-88F2A461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0C4F79-E910-E474-9448-D0ACAB89D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563D-64CC-45DD-956A-FBDFD9B9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9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B7729-8376-E0EF-9E70-AD26D7C6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33A6B-D2B9-1DF5-1D6C-5EC90E06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99E2C-4C05-4463-8AFD-B9B3FB00448F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FEB45-6612-2920-62D7-E2D619515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36EAE-5D62-DF0D-689A-81E77752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563D-64CC-45DD-956A-FBDFD9B9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02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3B12E-3C4E-317E-92E3-163E7834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99E2C-4C05-4463-8AFD-B9B3FB00448F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5CB926-71E3-D198-51C2-7DAAE17AA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AD711-B5A7-6362-06FC-3989D41F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563D-64CC-45DD-956A-FBDFD9B9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74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B7A2-F9A4-8414-EB06-42B522406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7995-395C-31DF-E00D-6BEEC12DA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D9A77-3D82-5FD0-B2AB-E1F330A69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93B6E-F9B3-3C0F-EFA6-4F5E18874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99E2C-4C05-4463-8AFD-B9B3FB00448F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8B141-6B9C-F916-1995-13F1E686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511ED-18DF-A099-92A1-C0195F607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563D-64CC-45DD-956A-FBDFD9B9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57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8A47E-7115-0016-9330-5D79B557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71AFEC-5105-8374-6E34-F849A434D7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23C97-341D-2468-E50A-6BBD86325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6F87F-58F9-DDD3-378F-82340851A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99E2C-4C05-4463-8AFD-B9B3FB00448F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12200-5E71-D180-EB69-BCBDD9F8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41FF3-381A-24A7-D6B7-7A44DCA89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563D-64CC-45DD-956A-FBDFD9B9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6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45E99-23B7-BE1B-D299-DC5592F5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15FAF-8774-F766-6669-0CE3BCA5B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46D68-18C2-DA4A-B7F1-F2FEE6D9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99E2C-4C05-4463-8AFD-B9B3FB00448F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4FB21-6BDE-12C3-A1C0-576FEAE1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44E1B-4E1A-C3DD-9581-1079B42A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563D-64CC-45DD-956A-FBDFD9B9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63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782F8-F360-6180-D5DF-0B98FF1F1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59619-E227-3CDB-0003-5A11B69E7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53F81-2701-4B54-F36E-25E5A7D2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99E2C-4C05-4463-8AFD-B9B3FB00448F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47DC3-5C52-BC10-2993-61F2EE2E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50421-08A5-EADB-4274-97C2C7E8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563D-64CC-45DD-956A-FBDFD9B9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5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E753B0-5CBD-A092-AA7E-C9268E2F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CC72E-3DAA-BB3C-24CD-E1AE6AE56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6DD11-8866-DC1A-A996-31F9A2F195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99E2C-4C05-4463-8AFD-B9B3FB00448F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08B70-E705-71CF-CEB4-F75F71B41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C4200-115A-9B4E-F295-193A7E487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F563D-64CC-45DD-956A-FBDFD9B9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50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ABABF1-EEB2-7D71-508B-A86DBAFE235C}"/>
              </a:ext>
            </a:extLst>
          </p:cNvPr>
          <p:cNvSpPr/>
          <p:nvPr/>
        </p:nvSpPr>
        <p:spPr>
          <a:xfrm>
            <a:off x="0" y="895738"/>
            <a:ext cx="12192000" cy="5805103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20AF10-FB68-230A-87CD-AC1330E60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830370"/>
              </p:ext>
            </p:extLst>
          </p:nvPr>
        </p:nvGraphicFramePr>
        <p:xfrm>
          <a:off x="1358899" y="968199"/>
          <a:ext cx="9474200" cy="1739265"/>
        </p:xfrm>
        <a:graphic>
          <a:graphicData uri="http://schemas.openxmlformats.org/drawingml/2006/table">
            <a:tbl>
              <a:tblPr/>
              <a:tblGrid>
                <a:gridCol w="1599128">
                  <a:extLst>
                    <a:ext uri="{9D8B030D-6E8A-4147-A177-3AD203B41FA5}">
                      <a16:colId xmlns:a16="http://schemas.microsoft.com/office/drawing/2014/main" val="811834617"/>
                    </a:ext>
                  </a:extLst>
                </a:gridCol>
                <a:gridCol w="2046503">
                  <a:extLst>
                    <a:ext uri="{9D8B030D-6E8A-4147-A177-3AD203B41FA5}">
                      <a16:colId xmlns:a16="http://schemas.microsoft.com/office/drawing/2014/main" val="3563818656"/>
                    </a:ext>
                  </a:extLst>
                </a:gridCol>
                <a:gridCol w="2046503">
                  <a:extLst>
                    <a:ext uri="{9D8B030D-6E8A-4147-A177-3AD203B41FA5}">
                      <a16:colId xmlns:a16="http://schemas.microsoft.com/office/drawing/2014/main" val="1006007402"/>
                    </a:ext>
                  </a:extLst>
                </a:gridCol>
                <a:gridCol w="1865650">
                  <a:extLst>
                    <a:ext uri="{9D8B030D-6E8A-4147-A177-3AD203B41FA5}">
                      <a16:colId xmlns:a16="http://schemas.microsoft.com/office/drawing/2014/main" val="3195052115"/>
                    </a:ext>
                  </a:extLst>
                </a:gridCol>
                <a:gridCol w="1916416">
                  <a:extLst>
                    <a:ext uri="{9D8B030D-6E8A-4147-A177-3AD203B41FA5}">
                      <a16:colId xmlns:a16="http://schemas.microsoft.com/office/drawing/2014/main" val="3387841985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Task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No. of packets transmitted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No. of packets discarded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Average data rate (kbps)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Traffic reduction (%)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02099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Spiral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14182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94.58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74985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Straight line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4718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94.97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975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Hold steady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99.95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95446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B2007C-2303-A11F-A23C-A8EB0A6AC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788583"/>
              </p:ext>
            </p:extLst>
          </p:nvPr>
        </p:nvGraphicFramePr>
        <p:xfrm>
          <a:off x="838198" y="3495823"/>
          <a:ext cx="10515599" cy="2745478"/>
        </p:xfrm>
        <a:graphic>
          <a:graphicData uri="http://schemas.openxmlformats.org/drawingml/2006/table">
            <a:tbl>
              <a:tblPr/>
              <a:tblGrid>
                <a:gridCol w="1398671">
                  <a:extLst>
                    <a:ext uri="{9D8B030D-6E8A-4147-A177-3AD203B41FA5}">
                      <a16:colId xmlns:a16="http://schemas.microsoft.com/office/drawing/2014/main" val="1459916469"/>
                    </a:ext>
                  </a:extLst>
                </a:gridCol>
                <a:gridCol w="1940092">
                  <a:extLst>
                    <a:ext uri="{9D8B030D-6E8A-4147-A177-3AD203B41FA5}">
                      <a16:colId xmlns:a16="http://schemas.microsoft.com/office/drawing/2014/main" val="2521212209"/>
                    </a:ext>
                  </a:extLst>
                </a:gridCol>
                <a:gridCol w="1940092">
                  <a:extLst>
                    <a:ext uri="{9D8B030D-6E8A-4147-A177-3AD203B41FA5}">
                      <a16:colId xmlns:a16="http://schemas.microsoft.com/office/drawing/2014/main" val="3490083983"/>
                    </a:ext>
                  </a:extLst>
                </a:gridCol>
                <a:gridCol w="1768642">
                  <a:extLst>
                    <a:ext uri="{9D8B030D-6E8A-4147-A177-3AD203B41FA5}">
                      <a16:colId xmlns:a16="http://schemas.microsoft.com/office/drawing/2014/main" val="441423382"/>
                    </a:ext>
                  </a:extLst>
                </a:gridCol>
                <a:gridCol w="1816768">
                  <a:extLst>
                    <a:ext uri="{9D8B030D-6E8A-4147-A177-3AD203B41FA5}">
                      <a16:colId xmlns:a16="http://schemas.microsoft.com/office/drawing/2014/main" val="4182781078"/>
                    </a:ext>
                  </a:extLst>
                </a:gridCol>
                <a:gridCol w="1651334">
                  <a:extLst>
                    <a:ext uri="{9D8B030D-6E8A-4147-A177-3AD203B41FA5}">
                      <a16:colId xmlns:a16="http://schemas.microsoft.com/office/drawing/2014/main" val="4186496846"/>
                    </a:ext>
                  </a:extLst>
                </a:gridCol>
              </a:tblGrid>
              <a:tr h="6685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Threshold (mm)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No. of packets transmitted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No. of packets discarded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Average data rate (kbps)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Traffic reduction (%)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Drawing length (mm)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653293"/>
                  </a:ext>
                </a:extLst>
              </a:tr>
              <a:tr h="3270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None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14992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1015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600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708240"/>
                  </a:ext>
                </a:extLst>
              </a:tr>
              <a:tr h="3270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2299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12621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156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84.6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507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515864"/>
                  </a:ext>
                </a:extLst>
              </a:tr>
              <a:tr h="3270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1586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13399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107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89.4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522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500129"/>
                  </a:ext>
                </a:extLst>
              </a:tr>
              <a:tr h="3270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813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14182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94.6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527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697763"/>
                  </a:ext>
                </a:extLst>
              </a:tr>
              <a:tr h="3270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423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14494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97.2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506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80795"/>
                  </a:ext>
                </a:extLst>
              </a:tr>
              <a:tr h="3270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226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14714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98.5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512</a:t>
                      </a:r>
                    </a:p>
                  </a:txBody>
                  <a:tcPr marL="9034" marR="9034" marT="90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8440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FEA2FA2-5C51-DFC8-E146-8234DF7F7C58}"/>
              </a:ext>
            </a:extLst>
          </p:cNvPr>
          <p:cNvSpPr txBox="1"/>
          <p:nvPr/>
        </p:nvSpPr>
        <p:spPr>
          <a:xfrm>
            <a:off x="2246500" y="6241301"/>
            <a:ext cx="76989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</a:rPr>
              <a:t>Effect of different thresholds in drawing a spiral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BEB0BC-4CEE-B669-6B78-0E63F442DAFE}"/>
              </a:ext>
            </a:extLst>
          </p:cNvPr>
          <p:cNvSpPr txBox="1"/>
          <p:nvPr/>
        </p:nvSpPr>
        <p:spPr>
          <a:xfrm>
            <a:off x="1358899" y="2707464"/>
            <a:ext cx="9474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</a:rPr>
              <a:t>Traffic reduction due to tremor suppression for different tasks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2E79C8-EFCB-646B-2272-78DA15F802DA}"/>
              </a:ext>
            </a:extLst>
          </p:cNvPr>
          <p:cNvSpPr txBox="1"/>
          <p:nvPr/>
        </p:nvSpPr>
        <p:spPr>
          <a:xfrm>
            <a:off x="3998055" y="157158"/>
            <a:ext cx="4195890" cy="461665"/>
          </a:xfrm>
          <a:prstGeom prst="rect">
            <a:avLst/>
          </a:prstGeom>
          <a:gradFill flip="none" rotWithShape="1">
            <a:gsLst>
              <a:gs pos="53000">
                <a:srgbClr val="FCE7D9"/>
              </a:gs>
              <a:gs pos="100000">
                <a:schemeClr val="accent2">
                  <a:lumMod val="5000"/>
                  <a:lumOff val="95000"/>
                </a:schemeClr>
              </a:gs>
              <a:gs pos="0">
                <a:schemeClr val="accent2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0" i="1" dirty="0">
                <a:effectLst/>
              </a:rPr>
              <a:t>Tremor suppression - Results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40489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5E395-7B67-6BB9-F24A-810399030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454" y="790938"/>
            <a:ext cx="9865093" cy="5253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A7E126-28B7-4120-2AEF-751FCA0F2986}"/>
              </a:ext>
            </a:extLst>
          </p:cNvPr>
          <p:cNvSpPr txBox="1"/>
          <p:nvPr/>
        </p:nvSpPr>
        <p:spPr>
          <a:xfrm>
            <a:off x="1070994" y="6155011"/>
            <a:ext cx="10050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</a:rPr>
              <a:t>Figure 5: Automatic pose correction - packet flow and latency measurements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91839-E7B8-A12F-4A42-93C65BD1FE0B}"/>
              </a:ext>
            </a:extLst>
          </p:cNvPr>
          <p:cNvSpPr txBox="1"/>
          <p:nvPr/>
        </p:nvSpPr>
        <p:spPr>
          <a:xfrm>
            <a:off x="4434980" y="157158"/>
            <a:ext cx="3322041" cy="461665"/>
          </a:xfrm>
          <a:prstGeom prst="rect">
            <a:avLst/>
          </a:prstGeom>
          <a:gradFill flip="none" rotWithShape="1">
            <a:gsLst>
              <a:gs pos="53000">
                <a:srgbClr val="FCE7D9"/>
              </a:gs>
              <a:gs pos="100000">
                <a:schemeClr val="accent2">
                  <a:lumMod val="5000"/>
                  <a:lumOff val="95000"/>
                </a:schemeClr>
              </a:gs>
              <a:gs pos="0">
                <a:schemeClr val="accent2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softEdge rad="31750"/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400" b="0" i="1">
                <a:effectLst/>
              </a:defRPr>
            </a:lvl1pPr>
          </a:lstStyle>
          <a:p>
            <a:r>
              <a:rPr lang="en-US" dirty="0"/>
              <a:t>Pose </a:t>
            </a:r>
            <a:r>
              <a:rPr lang="en-US"/>
              <a:t>correction - 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624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f23a9ce-2b25-403e-a60d-01e7607c59d3" xsi:nil="true"/>
    <lcf76f155ced4ddcb4097134ff3c332f xmlns="827c9616-726d-404b-9d3e-08ce8fe28f8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FAD8BD168BD448B7547CDE458DEC6" ma:contentTypeVersion="14" ma:contentTypeDescription="Create a new document." ma:contentTypeScope="" ma:versionID="35de672faf97081927a23b99958cb366">
  <xsd:schema xmlns:xsd="http://www.w3.org/2001/XMLSchema" xmlns:xs="http://www.w3.org/2001/XMLSchema" xmlns:p="http://schemas.microsoft.com/office/2006/metadata/properties" xmlns:ns2="827c9616-726d-404b-9d3e-08ce8fe28f87" xmlns:ns3="2f23a9ce-2b25-403e-a60d-01e7607c59d3" targetNamespace="http://schemas.microsoft.com/office/2006/metadata/properties" ma:root="true" ma:fieldsID="58a194a785ae4df7e79e8b7b058f810d" ns2:_="" ns3:_="">
    <xsd:import namespace="827c9616-726d-404b-9d3e-08ce8fe28f87"/>
    <xsd:import namespace="2f23a9ce-2b25-403e-a60d-01e7607c59d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7c9616-726d-404b-9d3e-08ce8fe28f8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eae8b99-2390-486d-8259-3a0fa51204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3a9ce-2b25-403e-a60d-01e7607c59d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71a213e-f094-4351-bc3b-044811b59944}" ma:internalName="TaxCatchAll" ma:showField="CatchAllData" ma:web="2f23a9ce-2b25-403e-a60d-01e7607c59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6D7CDF-8FB6-4844-83AF-F87498E56D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AB35AD-C2C8-40B3-86AB-BE520D6ACBB2}">
  <ds:schemaRefs>
    <ds:schemaRef ds:uri="http://schemas.microsoft.com/office/2006/metadata/properties"/>
    <ds:schemaRef ds:uri="http://schemas.microsoft.com/office/infopath/2007/PartnerControls"/>
    <ds:schemaRef ds:uri="2f23a9ce-2b25-403e-a60d-01e7607c59d3"/>
    <ds:schemaRef ds:uri="827c9616-726d-404b-9d3e-08ce8fe28f87"/>
  </ds:schemaRefs>
</ds:datastoreItem>
</file>

<file path=customXml/itemProps3.xml><?xml version="1.0" encoding="utf-8"?>
<ds:datastoreItem xmlns:ds="http://schemas.openxmlformats.org/officeDocument/2006/customXml" ds:itemID="{DC6E8167-26F7-4F46-844F-BB1EF2E578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7c9616-726d-404b-9d3e-08ce8fe28f87"/>
    <ds:schemaRef ds:uri="2f23a9ce-2b25-403e-a60d-01e7607c59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138</Words>
  <Application>Microsoft Office PowerPoint</Application>
  <PresentationFormat>Widescreen</PresentationFormat>
  <Paragraphs>67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Nithish K Gnani</dc:creator>
  <cp:lastModifiedBy>Nithish K Gnani</cp:lastModifiedBy>
  <cp:revision>37</cp:revision>
  <dcterms:created xsi:type="dcterms:W3CDTF">2023-07-13T04:28:12Z</dcterms:created>
  <dcterms:modified xsi:type="dcterms:W3CDTF">2023-11-05T13:18:31Z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0x010100ED5FAD8BD168BD448B7547CDE458DEC6</vt:lpwstr>
  </property>
  <property fmtid="{D5CDD505-2E9C-101B-9397-08002B2CF9AE}" pid="3" name="MediaServiceImageTags">
    <vt:lpwstr/>
  </property>
</Properties>
</file>